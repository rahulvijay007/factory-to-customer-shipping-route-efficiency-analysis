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68" r:id="rId3"/>
    <p:sldId id="258" r:id="rId4"/>
    <p:sldId id="259" r:id="rId5"/>
    <p:sldId id="272" r:id="rId6"/>
    <p:sldId id="262" r:id="rId7"/>
    <p:sldId id="261" r:id="rId8"/>
    <p:sldId id="264" r:id="rId9"/>
    <p:sldId id="267" r:id="rId10"/>
    <p:sldId id="270" r:id="rId11"/>
    <p:sldId id="263" r:id="rId12"/>
    <p:sldId id="271" r:id="rId13"/>
    <p:sldId id="269" r:id="rId14"/>
  </p:sldIdLst>
  <p:sldSz cx="9144000" cy="5143500" type="screen16x9"/>
  <p:notesSz cx="6858000" cy="9144000"/>
  <p:embeddedFontLst>
    <p:embeddedFont>
      <p:font typeface="Anaheim" panose="020B0604020202020204" charset="0"/>
      <p:regular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Wingdings 3" panose="05040102010807070707" pitchFamily="18" charset="2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6414FD-CAFD-4A95-A8FD-13665D0874B3}">
  <a:tblStyle styleId="{9A6414FD-CAFD-4A95-A8FD-13665D0874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912365-C511-4022-AF8C-7ECC9961BE1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31651" t="130" b="18270"/>
          <a:stretch/>
        </p:blipFill>
        <p:spPr>
          <a:xfrm rot="10800000" flipH="1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2" name="Google Shape;16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8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1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2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3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4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5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6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ubTitle" idx="7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1" name="Google Shape;191;p19"/>
          <p:cNvSpPr txBox="1">
            <a:spLocks noGrp="1"/>
          </p:cNvSpPr>
          <p:nvPr>
            <p:ph type="subTitle" idx="8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9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13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14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5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l="68148" b="22414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3" r:id="rId10"/>
    <p:sldLayoutId id="2147483664" r:id="rId11"/>
    <p:sldLayoutId id="2147483665" r:id="rId12"/>
    <p:sldLayoutId id="2147483674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lotly.com/python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BC5794E-D512-7404-6091-AF8CA43EF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138"/>
            <a:ext cx="8153400" cy="8588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b="1" dirty="0">
                <a:solidFill>
                  <a:srgbClr val="0070C0"/>
                </a:solidFill>
                <a:latin typeface="+mj-lt"/>
              </a:rPr>
              <a:t>DAYANANDA SAGAR UNIVERSITY</a:t>
            </a:r>
          </a:p>
          <a:p>
            <a:pPr algn="ctr" eaLnBrk="1" hangingPunct="1">
              <a:spcAft>
                <a:spcPts val="600"/>
              </a:spcAft>
              <a:defRPr/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SCHOOL OF ENGINEERING</a:t>
            </a:r>
            <a:endParaRPr lang="en-US" altLang="en-US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4B0994C9-9BA3-0431-76E9-10280F886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579" y="18749"/>
            <a:ext cx="903890" cy="9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095A062C-45B7-E815-494C-58247B33B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2368789" cy="80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5A5538E-4181-DE54-3E04-5B9F93445C9F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861529"/>
            <a:ext cx="777240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2000" b="1" dirty="0"/>
              <a:t>SHIPPING ROUTE EFFICIENCY ANALYSIS FOR THE LOGISTICS SECTOR </a:t>
            </a:r>
            <a:endParaRPr lang="en-US" alt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12FDDACB-683A-3CA3-07AE-EDDF80754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7" y="3675931"/>
            <a:ext cx="3962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j-lt"/>
              </a:rPr>
              <a:t>Presented By: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sz="1600" b="1" dirty="0"/>
              <a:t>Rahul V (ENG22AM0189)</a:t>
            </a:r>
            <a:endParaRPr lang="en-IN" altLang="en-US"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62AEB191-9F87-868D-6B8F-E2BEFDFB6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050" y="2140863"/>
            <a:ext cx="563989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200" b="1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INTERNSHIP REVIEW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B1C6126-2021-6A5B-E207-1F059976C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697" y="882794"/>
            <a:ext cx="8618482" cy="42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669925" indent="-325438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022350" indent="-350838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339850" indent="-315913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1681163" indent="-339725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1383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5955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0527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5099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SzPct val="65000"/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</a:t>
            </a:r>
            <a:r>
              <a:rPr lang="en-IN" altLang="en-US" sz="24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Science and Engineering </a:t>
            </a:r>
          </a:p>
          <a:p>
            <a:pPr algn="ctr" eaLnBrk="1" hangingPunct="1">
              <a:spcBef>
                <a:spcPct val="20000"/>
              </a:spcBef>
              <a:buSzPct val="65000"/>
              <a:buFont typeface="Wingdings" panose="05000000000000000000" pitchFamily="2" charset="2"/>
              <a:buNone/>
            </a:pPr>
            <a:r>
              <a:rPr lang="en-IN" altLang="en-US" sz="24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(Artificial Intelligence &amp; Machine Learning)</a:t>
            </a:r>
            <a:endParaRPr lang="en-US" altLang="en-US" sz="2400" b="1" dirty="0">
              <a:solidFill>
                <a:srgbClr val="0D0D4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0401FB0-B451-418D-C5C0-22BAA6C61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04" y="3672905"/>
            <a:ext cx="373856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Under the Supervision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Ms. </a:t>
            </a:r>
            <a:r>
              <a:rPr lang="en-IN" altLang="en-US" sz="1600" b="1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Dhrishti</a:t>
            </a: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Madaan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Dr. Joshuva </a:t>
            </a:r>
            <a:r>
              <a:rPr lang="en-IN" altLang="en-US" sz="1600" b="1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Arockia</a:t>
            </a: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Dhanraj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IN" altLang="en-US" sz="1600" b="1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C56133-FB30-1DAF-FFB8-720A6227F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31" y="0"/>
            <a:ext cx="528702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23" name="Google Shape;323;p35"/>
          <p:cNvSpPr txBox="1">
            <a:spLocks noGrp="1"/>
          </p:cNvSpPr>
          <p:nvPr>
            <p:ph type="title" idx="2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4" name="Google Shape;324;p35"/>
          <p:cNvSpPr txBox="1">
            <a:spLocks noGrp="1"/>
          </p:cNvSpPr>
          <p:nvPr>
            <p:ph type="title" idx="3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5" name="Google Shape;325;p35"/>
          <p:cNvSpPr txBox="1">
            <a:spLocks noGrp="1"/>
          </p:cNvSpPr>
          <p:nvPr>
            <p:ph type="title" idx="4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6" name="Google Shape;326;p35"/>
          <p:cNvSpPr txBox="1">
            <a:spLocks noGrp="1"/>
          </p:cNvSpPr>
          <p:nvPr>
            <p:ph type="title" idx="5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27" name="Google Shape;327;p35"/>
          <p:cNvSpPr txBox="1">
            <a:spLocks noGrp="1"/>
          </p:cNvSpPr>
          <p:nvPr>
            <p:ph type="title" idx="6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8" name="Google Shape;328;p35"/>
          <p:cNvSpPr txBox="1">
            <a:spLocks noGrp="1"/>
          </p:cNvSpPr>
          <p:nvPr>
            <p:ph type="title" idx="7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29" name="Google Shape;329;p35"/>
          <p:cNvSpPr txBox="1">
            <a:spLocks noGrp="1"/>
          </p:cNvSpPr>
          <p:nvPr>
            <p:ph type="subTitle" idx="1"/>
          </p:nvPr>
        </p:nvSpPr>
        <p:spPr>
          <a:xfrm>
            <a:off x="633984" y="1699100"/>
            <a:ext cx="2934716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Internship Overview</a:t>
            </a:r>
            <a:endParaRPr dirty="0"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9"/>
          </p:nvPr>
        </p:nvSpPr>
        <p:spPr>
          <a:xfrm>
            <a:off x="1194171" y="3888346"/>
            <a:ext cx="2447036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Definition</a:t>
            </a:r>
          </a:p>
        </p:txBody>
      </p:sp>
      <p:sp>
        <p:nvSpPr>
          <p:cNvPr id="332" name="Google Shape;332;p35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Methodology</a:t>
            </a:r>
            <a:endParaRPr dirty="0"/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Experimentation</a:t>
            </a:r>
          </a:p>
        </p:txBody>
      </p:sp>
      <p:sp>
        <p:nvSpPr>
          <p:cNvPr id="334" name="Google Shape;334;p35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335" name="Google Shape;3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59213"/>
            <a:ext cx="1768000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491FCF3-0FD1-AEB6-EBEB-302BA081441E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>
            <a:spLocks noGrp="1"/>
          </p:cNvSpPr>
          <p:nvPr>
            <p:ph type="title"/>
          </p:nvPr>
        </p:nvSpPr>
        <p:spPr>
          <a:xfrm>
            <a:off x="1798238" y="809065"/>
            <a:ext cx="5547524" cy="6160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INTERNSHIP OVERVIEW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541824-132F-23FD-9C6C-9111A63BD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800543"/>
              </p:ext>
            </p:extLst>
          </p:nvPr>
        </p:nvGraphicFramePr>
        <p:xfrm>
          <a:off x="1205103" y="2075865"/>
          <a:ext cx="6733794" cy="26712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66897">
                  <a:extLst>
                    <a:ext uri="{9D8B030D-6E8A-4147-A177-3AD203B41FA5}">
                      <a16:colId xmlns:a16="http://schemas.microsoft.com/office/drawing/2014/main" val="1514227723"/>
                    </a:ext>
                  </a:extLst>
                </a:gridCol>
                <a:gridCol w="3366897">
                  <a:extLst>
                    <a:ext uri="{9D8B030D-6E8A-4147-A177-3AD203B41FA5}">
                      <a16:colId xmlns:a16="http://schemas.microsoft.com/office/drawing/2014/main" val="2050817573"/>
                    </a:ext>
                  </a:extLst>
                </a:gridCol>
              </a:tblGrid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COMPANY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Unified Mentor </a:t>
                      </a:r>
                      <a:r>
                        <a:rPr lang="en-IN" dirty="0" err="1"/>
                        <a:t>Pvt.</a:t>
                      </a:r>
                      <a:r>
                        <a:rPr lang="en-IN" dirty="0"/>
                        <a:t> Ltd.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87748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Months (25th March 2026 to 25th June 2026)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257973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SHIPPING ROUTE EFFICIENCY ANALYSIS FOR THE LOGISTICS SECTOR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72561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TECH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Python 3.14, Pandas, NumPy, </a:t>
                      </a:r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, Plotly, </a:t>
                      </a:r>
                      <a:r>
                        <a:rPr lang="en-IN" dirty="0" err="1"/>
                        <a:t>Pandera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Pytest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PyYAML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12190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EXTERNAL GUIDE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Ms. </a:t>
                      </a:r>
                      <a:r>
                        <a:rPr lang="en-IN" dirty="0" err="1"/>
                        <a:t>Dhrishti</a:t>
                      </a:r>
                      <a:r>
                        <a:rPr lang="en-IN" dirty="0"/>
                        <a:t> Madaan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165542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5604A0A-5069-5218-0EFC-59FFEDD58EE8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77AB3-DA30-3B64-D423-EDB4EF2D5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58" y="792480"/>
            <a:ext cx="8006570" cy="349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>
            <a:spLocks noGrp="1"/>
          </p:cNvSpPr>
          <p:nvPr>
            <p:ph type="title"/>
          </p:nvPr>
        </p:nvSpPr>
        <p:spPr>
          <a:xfrm>
            <a:off x="2895936" y="428764"/>
            <a:ext cx="3352128" cy="607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CC9DC83-E6AD-8319-9AF8-DA85794A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36319"/>
            <a:ext cx="9144000" cy="402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 Transformation: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Converted raw multi-factory shipping records into actionable intelligence using a production-grade Python architecture.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Signal Extraction: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Developed a custom cohort-based normalization algorithm to isolate genuine 0–11-day lead time signals from noisy, high-baseline datasets.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Efficiency Benchmarking: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Created a 0–100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Route Efficiency Score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evaluate performance across specific factory-region and shipping mode combinations.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Quality &amp; Validation: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Utilized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pandera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rigorous schema validation and Pandas/NumPy for robust statistical processing of complex distribution networks.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Interactive Visualization: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Deployed a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dashboard featuring 10 distinct Plotly chart types to provide stakeholders with real-time operational insights.</a:t>
            </a:r>
          </a:p>
          <a:p>
            <a:pPr eaLnBrk="1" hangingPunct="1"/>
            <a:endParaRPr lang="en-IN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55CA57D-37EA-F434-4BA4-468A3DA61186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55;p38">
            <a:extLst>
              <a:ext uri="{FF2B5EF4-FFF2-40B4-BE49-F238E27FC236}">
                <a16:creationId xmlns:a16="http://schemas.microsoft.com/office/drawing/2014/main" id="{375ECBC5-6F58-191C-ADF4-7F169BB29F63}"/>
              </a:ext>
            </a:extLst>
          </p:cNvPr>
          <p:cNvSpPr/>
          <p:nvPr/>
        </p:nvSpPr>
        <p:spPr>
          <a:xfrm>
            <a:off x="803400" y="1649136"/>
            <a:ext cx="903900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56;p38">
            <a:extLst>
              <a:ext uri="{FF2B5EF4-FFF2-40B4-BE49-F238E27FC236}">
                <a16:creationId xmlns:a16="http://schemas.microsoft.com/office/drawing/2014/main" id="{D8AC7ED3-9BCB-F136-542C-CF9EF075D15E}"/>
              </a:ext>
            </a:extLst>
          </p:cNvPr>
          <p:cNvSpPr/>
          <p:nvPr/>
        </p:nvSpPr>
        <p:spPr>
          <a:xfrm>
            <a:off x="803402" y="3054549"/>
            <a:ext cx="903900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Google Shape;357;p38">
            <a:extLst>
              <a:ext uri="{FF2B5EF4-FFF2-40B4-BE49-F238E27FC236}">
                <a16:creationId xmlns:a16="http://schemas.microsoft.com/office/drawing/2014/main" id="{7332ADF9-FE15-2856-040B-FE7EDE9CFBF4}"/>
              </a:ext>
            </a:extLst>
          </p:cNvPr>
          <p:cNvSpPr txBox="1">
            <a:spLocks/>
          </p:cNvSpPr>
          <p:nvPr/>
        </p:nvSpPr>
        <p:spPr>
          <a:xfrm>
            <a:off x="1859700" y="3054549"/>
            <a:ext cx="15414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IN"/>
              <a:t>Solution</a:t>
            </a:r>
            <a:endParaRPr lang="en-IN" dirty="0"/>
          </a:p>
        </p:txBody>
      </p:sp>
      <p:sp>
        <p:nvSpPr>
          <p:cNvPr id="33" name="Google Shape;358;p38">
            <a:extLst>
              <a:ext uri="{FF2B5EF4-FFF2-40B4-BE49-F238E27FC236}">
                <a16:creationId xmlns:a16="http://schemas.microsoft.com/office/drawing/2014/main" id="{A686E753-398E-1193-9FA9-8F6886D91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4" name="Google Shape;359;p38">
            <a:extLst>
              <a:ext uri="{FF2B5EF4-FFF2-40B4-BE49-F238E27FC236}">
                <a16:creationId xmlns:a16="http://schemas.microsoft.com/office/drawing/2014/main" id="{65FA5492-5155-2772-5AD1-D080B82ADC9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01100" y="3054555"/>
            <a:ext cx="531618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Engineered an end-to-end analytics platform that computes a </a:t>
            </a:r>
            <a:r>
              <a:rPr lang="en-US" b="1" dirty="0"/>
              <a:t>0–100 Efficiency Score</a:t>
            </a:r>
            <a:r>
              <a:rPr lang="en-US" dirty="0"/>
              <a:t> for every route via min-max normalized lead times while tracking seven critical KPIs, including profitability and delay frequency. The solution features an interactive </a:t>
            </a:r>
            <a:r>
              <a:rPr lang="en-US" b="1" dirty="0"/>
              <a:t>US choropleth map</a:t>
            </a:r>
            <a:r>
              <a:rPr lang="en-US" dirty="0"/>
              <a:t> with factory overlays and a self-service filtering suite, allowing users to transition from high-level geographic trends to granular, order-level </a:t>
            </a:r>
            <a:r>
              <a:rPr lang="en-US" b="1" dirty="0"/>
              <a:t>Gantt timelines</a:t>
            </a:r>
            <a:r>
              <a:rPr lang="en-US" dirty="0"/>
              <a:t> for comprehensive route drill-downs.</a:t>
            </a:r>
            <a:endParaRPr dirty="0"/>
          </a:p>
        </p:txBody>
      </p:sp>
      <p:sp>
        <p:nvSpPr>
          <p:cNvPr id="35" name="Google Shape;360;p38">
            <a:extLst>
              <a:ext uri="{FF2B5EF4-FFF2-40B4-BE49-F238E27FC236}">
                <a16:creationId xmlns:a16="http://schemas.microsoft.com/office/drawing/2014/main" id="{6599C2AA-E7AF-63A6-1630-830B3890311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01100" y="1341120"/>
            <a:ext cx="5584404" cy="12119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The distribution sector client lacked quantitative visibility into their complex multi-factory network, forcing critical decisions on shipping modes and factory allocations to be made without data-driven insights. Because raw transactional data remained untapped, the business could not track SLA compliance or identify geographic performance trends, leaving regional lead-time patterns and route inefficiencies entirely invisible to stakeholders.</a:t>
            </a:r>
            <a:endParaRPr dirty="0"/>
          </a:p>
        </p:txBody>
      </p:sp>
      <p:sp>
        <p:nvSpPr>
          <p:cNvPr id="36" name="Google Shape;361;p38">
            <a:extLst>
              <a:ext uri="{FF2B5EF4-FFF2-40B4-BE49-F238E27FC236}">
                <a16:creationId xmlns:a16="http://schemas.microsoft.com/office/drawing/2014/main" id="{6FDE974C-E876-6F5E-6E22-E10B4C1C747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grpSp>
        <p:nvGrpSpPr>
          <p:cNvPr id="37" name="Google Shape;362;p38">
            <a:extLst>
              <a:ext uri="{FF2B5EF4-FFF2-40B4-BE49-F238E27FC236}">
                <a16:creationId xmlns:a16="http://schemas.microsoft.com/office/drawing/2014/main" id="{DAA6892C-F9F0-2A6B-1F49-CFF579ED690A}"/>
              </a:ext>
            </a:extLst>
          </p:cNvPr>
          <p:cNvGrpSpPr/>
          <p:nvPr/>
        </p:nvGrpSpPr>
        <p:grpSpPr>
          <a:xfrm>
            <a:off x="1044915" y="1890632"/>
            <a:ext cx="420881" cy="420913"/>
            <a:chOff x="4792819" y="2090612"/>
            <a:chExt cx="376762" cy="376791"/>
          </a:xfrm>
        </p:grpSpPr>
        <p:sp>
          <p:nvSpPr>
            <p:cNvPr id="38" name="Google Shape;363;p38">
              <a:extLst>
                <a:ext uri="{FF2B5EF4-FFF2-40B4-BE49-F238E27FC236}">
                  <a16:creationId xmlns:a16="http://schemas.microsoft.com/office/drawing/2014/main" id="{C9E8C78D-3632-302C-1D21-FF7B6FDCD3D7}"/>
                </a:ext>
              </a:extLst>
            </p:cNvPr>
            <p:cNvSpPr/>
            <p:nvPr/>
          </p:nvSpPr>
          <p:spPr>
            <a:xfrm>
              <a:off x="4992193" y="2179659"/>
              <a:ext cx="66298" cy="66270"/>
            </a:xfrm>
            <a:custGeom>
              <a:avLst/>
              <a:gdLst/>
              <a:ahLst/>
              <a:cxnLst/>
              <a:rect l="l" t="t" r="r" b="b"/>
              <a:pathLst>
                <a:path w="2346" h="2345" extrusionOk="0">
                  <a:moveTo>
                    <a:pt x="1173" y="781"/>
                  </a:moveTo>
                  <a:cubicBezTo>
                    <a:pt x="1389" y="781"/>
                    <a:pt x="1564" y="956"/>
                    <a:pt x="1564" y="1172"/>
                  </a:cubicBezTo>
                  <a:cubicBezTo>
                    <a:pt x="1564" y="1388"/>
                    <a:pt x="1389" y="1563"/>
                    <a:pt x="1173" y="1563"/>
                  </a:cubicBezTo>
                  <a:cubicBezTo>
                    <a:pt x="957" y="1563"/>
                    <a:pt x="782" y="1388"/>
                    <a:pt x="782" y="1172"/>
                  </a:cubicBezTo>
                  <a:cubicBezTo>
                    <a:pt x="782" y="956"/>
                    <a:pt x="957" y="781"/>
                    <a:pt x="1173" y="781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8"/>
                    <a:pt x="527" y="2344"/>
                    <a:pt x="1173" y="2344"/>
                  </a:cubicBezTo>
                  <a:cubicBezTo>
                    <a:pt x="1819" y="2344"/>
                    <a:pt x="2345" y="1818"/>
                    <a:pt x="2345" y="1172"/>
                  </a:cubicBezTo>
                  <a:cubicBezTo>
                    <a:pt x="2345" y="526"/>
                    <a:pt x="181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64;p38">
              <a:extLst>
                <a:ext uri="{FF2B5EF4-FFF2-40B4-BE49-F238E27FC236}">
                  <a16:creationId xmlns:a16="http://schemas.microsoft.com/office/drawing/2014/main" id="{F406D578-A667-7799-B798-281658346C8F}"/>
                </a:ext>
              </a:extLst>
            </p:cNvPr>
            <p:cNvSpPr/>
            <p:nvPr/>
          </p:nvSpPr>
          <p:spPr>
            <a:xfrm>
              <a:off x="4859767" y="2378327"/>
              <a:ext cx="22099" cy="22099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391" y="0"/>
                  </a:moveTo>
                  <a:cubicBezTo>
                    <a:pt x="175" y="0"/>
                    <a:pt x="0" y="175"/>
                    <a:pt x="0" y="391"/>
                  </a:cubicBezTo>
                  <a:cubicBezTo>
                    <a:pt x="0" y="607"/>
                    <a:pt x="175" y="782"/>
                    <a:pt x="391" y="782"/>
                  </a:cubicBezTo>
                  <a:cubicBezTo>
                    <a:pt x="607" y="782"/>
                    <a:pt x="782" y="607"/>
                    <a:pt x="782" y="391"/>
                  </a:cubicBezTo>
                  <a:cubicBezTo>
                    <a:pt x="782" y="175"/>
                    <a:pt x="607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5;p38">
              <a:extLst>
                <a:ext uri="{FF2B5EF4-FFF2-40B4-BE49-F238E27FC236}">
                  <a16:creationId xmlns:a16="http://schemas.microsoft.com/office/drawing/2014/main" id="{758B8C78-1653-9681-B3AA-FE73BD266A86}"/>
                </a:ext>
              </a:extLst>
            </p:cNvPr>
            <p:cNvSpPr/>
            <p:nvPr/>
          </p:nvSpPr>
          <p:spPr>
            <a:xfrm>
              <a:off x="4792819" y="2090612"/>
              <a:ext cx="376762" cy="376791"/>
            </a:xfrm>
            <a:custGeom>
              <a:avLst/>
              <a:gdLst/>
              <a:ahLst/>
              <a:cxnLst/>
              <a:rect l="l" t="t" r="r" b="b"/>
              <a:pathLst>
                <a:path w="13332" h="13333" extrusionOk="0">
                  <a:moveTo>
                    <a:pt x="8229" y="1589"/>
                  </a:moveTo>
                  <a:cubicBezTo>
                    <a:pt x="8444" y="1589"/>
                    <a:pt x="8619" y="1764"/>
                    <a:pt x="8619" y="1980"/>
                  </a:cubicBezTo>
                  <a:lnTo>
                    <a:pt x="8619" y="2410"/>
                  </a:lnTo>
                  <a:cubicBezTo>
                    <a:pt x="8867" y="2461"/>
                    <a:pt x="9099" y="2560"/>
                    <a:pt x="9303" y="2696"/>
                  </a:cubicBezTo>
                  <a:lnTo>
                    <a:pt x="9602" y="2398"/>
                  </a:lnTo>
                  <a:cubicBezTo>
                    <a:pt x="9680" y="2319"/>
                    <a:pt x="9785" y="2277"/>
                    <a:pt x="9890" y="2277"/>
                  </a:cubicBezTo>
                  <a:cubicBezTo>
                    <a:pt x="9974" y="2277"/>
                    <a:pt x="10058" y="2304"/>
                    <a:pt x="10128" y="2360"/>
                  </a:cubicBezTo>
                  <a:cubicBezTo>
                    <a:pt x="10313" y="2509"/>
                    <a:pt x="10323" y="2780"/>
                    <a:pt x="10162" y="2942"/>
                  </a:cubicBezTo>
                  <a:lnTo>
                    <a:pt x="9855" y="3248"/>
                  </a:lnTo>
                  <a:cubicBezTo>
                    <a:pt x="9991" y="3452"/>
                    <a:pt x="10090" y="3684"/>
                    <a:pt x="10141" y="3932"/>
                  </a:cubicBezTo>
                  <a:lnTo>
                    <a:pt x="10561" y="3932"/>
                  </a:lnTo>
                  <a:cubicBezTo>
                    <a:pt x="10762" y="3932"/>
                    <a:pt x="10939" y="4079"/>
                    <a:pt x="10959" y="4279"/>
                  </a:cubicBezTo>
                  <a:cubicBezTo>
                    <a:pt x="10985" y="4515"/>
                    <a:pt x="10802" y="4714"/>
                    <a:pt x="10571" y="4714"/>
                  </a:cubicBezTo>
                  <a:lnTo>
                    <a:pt x="10141" y="4714"/>
                  </a:lnTo>
                  <a:cubicBezTo>
                    <a:pt x="10090" y="4963"/>
                    <a:pt x="9991" y="5193"/>
                    <a:pt x="9855" y="5399"/>
                  </a:cubicBezTo>
                  <a:lnTo>
                    <a:pt x="10154" y="5696"/>
                  </a:lnTo>
                  <a:cubicBezTo>
                    <a:pt x="10296" y="5839"/>
                    <a:pt x="10316" y="6067"/>
                    <a:pt x="10191" y="6223"/>
                  </a:cubicBezTo>
                  <a:cubicBezTo>
                    <a:pt x="10112" y="6321"/>
                    <a:pt x="9998" y="6371"/>
                    <a:pt x="9885" y="6371"/>
                  </a:cubicBezTo>
                  <a:cubicBezTo>
                    <a:pt x="9785" y="6371"/>
                    <a:pt x="9685" y="6333"/>
                    <a:pt x="9609" y="6256"/>
                  </a:cubicBezTo>
                  <a:lnTo>
                    <a:pt x="9304" y="5951"/>
                  </a:lnTo>
                  <a:cubicBezTo>
                    <a:pt x="9099" y="6087"/>
                    <a:pt x="8868" y="6186"/>
                    <a:pt x="8619" y="6237"/>
                  </a:cubicBezTo>
                  <a:lnTo>
                    <a:pt x="8619" y="6657"/>
                  </a:lnTo>
                  <a:cubicBezTo>
                    <a:pt x="8619" y="6857"/>
                    <a:pt x="8472" y="7033"/>
                    <a:pt x="8272" y="7055"/>
                  </a:cubicBezTo>
                  <a:cubicBezTo>
                    <a:pt x="8258" y="7057"/>
                    <a:pt x="8243" y="7057"/>
                    <a:pt x="8229" y="7057"/>
                  </a:cubicBezTo>
                  <a:cubicBezTo>
                    <a:pt x="8014" y="7057"/>
                    <a:pt x="7837" y="6882"/>
                    <a:pt x="7837" y="6666"/>
                  </a:cubicBezTo>
                  <a:lnTo>
                    <a:pt x="7837" y="6236"/>
                  </a:lnTo>
                  <a:cubicBezTo>
                    <a:pt x="7588" y="6186"/>
                    <a:pt x="7358" y="6087"/>
                    <a:pt x="7153" y="5950"/>
                  </a:cubicBezTo>
                  <a:cubicBezTo>
                    <a:pt x="7093" y="5980"/>
                    <a:pt x="6842" y="6377"/>
                    <a:pt x="6553" y="6377"/>
                  </a:cubicBezTo>
                  <a:cubicBezTo>
                    <a:pt x="6466" y="6377"/>
                    <a:pt x="6376" y="6341"/>
                    <a:pt x="6286" y="6247"/>
                  </a:cubicBezTo>
                  <a:cubicBezTo>
                    <a:pt x="6142" y="6097"/>
                    <a:pt x="6150" y="5848"/>
                    <a:pt x="6298" y="5701"/>
                  </a:cubicBezTo>
                  <a:lnTo>
                    <a:pt x="6601" y="5399"/>
                  </a:lnTo>
                  <a:cubicBezTo>
                    <a:pt x="6465" y="5193"/>
                    <a:pt x="6365" y="4963"/>
                    <a:pt x="6315" y="4714"/>
                  </a:cubicBezTo>
                  <a:lnTo>
                    <a:pt x="5895" y="4714"/>
                  </a:lnTo>
                  <a:cubicBezTo>
                    <a:pt x="5694" y="4714"/>
                    <a:pt x="5517" y="4566"/>
                    <a:pt x="5497" y="4367"/>
                  </a:cubicBezTo>
                  <a:cubicBezTo>
                    <a:pt x="5471" y="4132"/>
                    <a:pt x="5655" y="3933"/>
                    <a:pt x="5885" y="3933"/>
                  </a:cubicBezTo>
                  <a:lnTo>
                    <a:pt x="6315" y="3933"/>
                  </a:lnTo>
                  <a:cubicBezTo>
                    <a:pt x="6366" y="3684"/>
                    <a:pt x="6465" y="3452"/>
                    <a:pt x="6601" y="3248"/>
                  </a:cubicBezTo>
                  <a:lnTo>
                    <a:pt x="6302" y="2949"/>
                  </a:lnTo>
                  <a:cubicBezTo>
                    <a:pt x="6161" y="2808"/>
                    <a:pt x="6140" y="2580"/>
                    <a:pt x="6265" y="2423"/>
                  </a:cubicBezTo>
                  <a:cubicBezTo>
                    <a:pt x="6345" y="2325"/>
                    <a:pt x="6458" y="2276"/>
                    <a:pt x="6571" y="2276"/>
                  </a:cubicBezTo>
                  <a:cubicBezTo>
                    <a:pt x="6671" y="2276"/>
                    <a:pt x="6771" y="2314"/>
                    <a:pt x="6847" y="2391"/>
                  </a:cubicBezTo>
                  <a:lnTo>
                    <a:pt x="7152" y="2696"/>
                  </a:lnTo>
                  <a:cubicBezTo>
                    <a:pt x="7358" y="2560"/>
                    <a:pt x="7588" y="2461"/>
                    <a:pt x="7837" y="2410"/>
                  </a:cubicBezTo>
                  <a:lnTo>
                    <a:pt x="7837" y="1990"/>
                  </a:lnTo>
                  <a:cubicBezTo>
                    <a:pt x="7837" y="1790"/>
                    <a:pt x="7985" y="1614"/>
                    <a:pt x="8184" y="1592"/>
                  </a:cubicBezTo>
                  <a:cubicBezTo>
                    <a:pt x="8199" y="1590"/>
                    <a:pt x="8214" y="1589"/>
                    <a:pt x="8229" y="1589"/>
                  </a:cubicBezTo>
                  <a:close/>
                  <a:moveTo>
                    <a:pt x="2760" y="9401"/>
                  </a:moveTo>
                  <a:cubicBezTo>
                    <a:pt x="3406" y="9401"/>
                    <a:pt x="3933" y="9926"/>
                    <a:pt x="3933" y="10572"/>
                  </a:cubicBezTo>
                  <a:cubicBezTo>
                    <a:pt x="3933" y="11218"/>
                    <a:pt x="3406" y="11744"/>
                    <a:pt x="2760" y="11744"/>
                  </a:cubicBezTo>
                  <a:cubicBezTo>
                    <a:pt x="2114" y="11744"/>
                    <a:pt x="1588" y="11218"/>
                    <a:pt x="1588" y="10572"/>
                  </a:cubicBezTo>
                  <a:cubicBezTo>
                    <a:pt x="1588" y="9926"/>
                    <a:pt x="2114" y="9401"/>
                    <a:pt x="2760" y="9401"/>
                  </a:cubicBezTo>
                  <a:close/>
                  <a:moveTo>
                    <a:pt x="11353" y="10963"/>
                  </a:moveTo>
                  <a:cubicBezTo>
                    <a:pt x="11569" y="10963"/>
                    <a:pt x="11744" y="11138"/>
                    <a:pt x="11744" y="11354"/>
                  </a:cubicBezTo>
                  <a:cubicBezTo>
                    <a:pt x="11744" y="11570"/>
                    <a:pt x="11569" y="11744"/>
                    <a:pt x="11353" y="11744"/>
                  </a:cubicBezTo>
                  <a:cubicBezTo>
                    <a:pt x="11137" y="11744"/>
                    <a:pt x="10962" y="11570"/>
                    <a:pt x="10962" y="11354"/>
                  </a:cubicBezTo>
                  <a:cubicBezTo>
                    <a:pt x="10962" y="11138"/>
                    <a:pt x="11137" y="10963"/>
                    <a:pt x="11353" y="10963"/>
                  </a:cubicBezTo>
                  <a:close/>
                  <a:moveTo>
                    <a:pt x="3950" y="4676"/>
                  </a:moveTo>
                  <a:cubicBezTo>
                    <a:pt x="4129" y="6880"/>
                    <a:pt x="5978" y="8620"/>
                    <a:pt x="8228" y="8620"/>
                  </a:cubicBezTo>
                  <a:cubicBezTo>
                    <a:pt x="9847" y="8620"/>
                    <a:pt x="11258" y="7720"/>
                    <a:pt x="11990" y="6395"/>
                  </a:cubicBezTo>
                  <a:lnTo>
                    <a:pt x="12375" y="9684"/>
                  </a:lnTo>
                  <a:cubicBezTo>
                    <a:pt x="12083" y="9508"/>
                    <a:pt x="11719" y="9401"/>
                    <a:pt x="11353" y="9401"/>
                  </a:cubicBezTo>
                  <a:cubicBezTo>
                    <a:pt x="10277" y="9401"/>
                    <a:pt x="9400" y="10278"/>
                    <a:pt x="9400" y="11354"/>
                  </a:cubicBezTo>
                  <a:cubicBezTo>
                    <a:pt x="9400" y="11796"/>
                    <a:pt x="9552" y="12224"/>
                    <a:pt x="9800" y="12552"/>
                  </a:cubicBezTo>
                  <a:lnTo>
                    <a:pt x="4667" y="12552"/>
                  </a:lnTo>
                  <a:cubicBezTo>
                    <a:pt x="5176" y="12055"/>
                    <a:pt x="5494" y="11338"/>
                    <a:pt x="5494" y="10572"/>
                  </a:cubicBezTo>
                  <a:cubicBezTo>
                    <a:pt x="5494" y="9066"/>
                    <a:pt x="4268" y="7838"/>
                    <a:pt x="2760" y="7838"/>
                  </a:cubicBezTo>
                  <a:cubicBezTo>
                    <a:pt x="2506" y="7838"/>
                    <a:pt x="2266" y="7885"/>
                    <a:pt x="2034" y="7949"/>
                  </a:cubicBezTo>
                  <a:lnTo>
                    <a:pt x="3950" y="4676"/>
                  </a:lnTo>
                  <a:close/>
                  <a:moveTo>
                    <a:pt x="8228" y="1"/>
                  </a:moveTo>
                  <a:cubicBezTo>
                    <a:pt x="6656" y="1"/>
                    <a:pt x="5283" y="877"/>
                    <a:pt x="4533" y="2141"/>
                  </a:cubicBezTo>
                  <a:cubicBezTo>
                    <a:pt x="4490" y="2207"/>
                    <a:pt x="389" y="9153"/>
                    <a:pt x="350" y="9260"/>
                  </a:cubicBezTo>
                  <a:cubicBezTo>
                    <a:pt x="134" y="9652"/>
                    <a:pt x="0" y="10094"/>
                    <a:pt x="0" y="10572"/>
                  </a:cubicBezTo>
                  <a:cubicBezTo>
                    <a:pt x="0" y="12080"/>
                    <a:pt x="1253" y="13332"/>
                    <a:pt x="2760" y="13332"/>
                  </a:cubicBezTo>
                  <a:lnTo>
                    <a:pt x="11353" y="13332"/>
                  </a:lnTo>
                  <a:cubicBezTo>
                    <a:pt x="12430" y="13332"/>
                    <a:pt x="13331" y="12430"/>
                    <a:pt x="13331" y="11354"/>
                  </a:cubicBezTo>
                  <a:cubicBezTo>
                    <a:pt x="13331" y="11194"/>
                    <a:pt x="12508" y="3929"/>
                    <a:pt x="12499" y="3855"/>
                  </a:cubicBezTo>
                  <a:lnTo>
                    <a:pt x="12499" y="3855"/>
                  </a:lnTo>
                  <a:cubicBezTo>
                    <a:pt x="12499" y="3852"/>
                    <a:pt x="12497" y="3850"/>
                    <a:pt x="12496" y="3847"/>
                  </a:cubicBezTo>
                  <a:cubicBezTo>
                    <a:pt x="12258" y="1701"/>
                    <a:pt x="10436" y="1"/>
                    <a:pt x="8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366;p38">
            <a:extLst>
              <a:ext uri="{FF2B5EF4-FFF2-40B4-BE49-F238E27FC236}">
                <a16:creationId xmlns:a16="http://schemas.microsoft.com/office/drawing/2014/main" id="{48E7C606-4CA6-CF30-997A-703FE49B9FB9}"/>
              </a:ext>
            </a:extLst>
          </p:cNvPr>
          <p:cNvGrpSpPr/>
          <p:nvPr/>
        </p:nvGrpSpPr>
        <p:grpSpPr>
          <a:xfrm>
            <a:off x="1069253" y="3296046"/>
            <a:ext cx="372328" cy="420913"/>
            <a:chOff x="2353331" y="2090612"/>
            <a:chExt cx="333298" cy="376791"/>
          </a:xfrm>
        </p:grpSpPr>
        <p:sp>
          <p:nvSpPr>
            <p:cNvPr id="42" name="Google Shape;367;p38">
              <a:extLst>
                <a:ext uri="{FF2B5EF4-FFF2-40B4-BE49-F238E27FC236}">
                  <a16:creationId xmlns:a16="http://schemas.microsoft.com/office/drawing/2014/main" id="{CBC1EA60-3CB4-CFAB-EE8C-180E4815E7C5}"/>
                </a:ext>
              </a:extLst>
            </p:cNvPr>
            <p:cNvSpPr/>
            <p:nvPr/>
          </p:nvSpPr>
          <p:spPr>
            <a:xfrm>
              <a:off x="2353331" y="2098864"/>
              <a:ext cx="123298" cy="184623"/>
            </a:xfrm>
            <a:custGeom>
              <a:avLst/>
              <a:gdLst/>
              <a:ahLst/>
              <a:cxnLst/>
              <a:rect l="l" t="t" r="r" b="b"/>
              <a:pathLst>
                <a:path w="4363" h="6533" extrusionOk="0">
                  <a:moveTo>
                    <a:pt x="2318" y="1"/>
                  </a:moveTo>
                  <a:lnTo>
                    <a:pt x="153" y="2167"/>
                  </a:lnTo>
                  <a:cubicBezTo>
                    <a:pt x="20" y="2299"/>
                    <a:pt x="0" y="2504"/>
                    <a:pt x="104" y="2660"/>
                  </a:cubicBezTo>
                  <a:lnTo>
                    <a:pt x="2668" y="6533"/>
                  </a:lnTo>
                  <a:cubicBezTo>
                    <a:pt x="2824" y="6339"/>
                    <a:pt x="3037" y="6193"/>
                    <a:pt x="3279" y="6129"/>
                  </a:cubicBezTo>
                  <a:cubicBezTo>
                    <a:pt x="3379" y="6102"/>
                    <a:pt x="3481" y="6089"/>
                    <a:pt x="3582" y="6089"/>
                  </a:cubicBezTo>
                  <a:cubicBezTo>
                    <a:pt x="3712" y="6089"/>
                    <a:pt x="3841" y="6111"/>
                    <a:pt x="3965" y="6154"/>
                  </a:cubicBezTo>
                  <a:cubicBezTo>
                    <a:pt x="4017" y="5884"/>
                    <a:pt x="4161" y="5649"/>
                    <a:pt x="4363" y="5480"/>
                  </a:cubicBezTo>
                  <a:lnTo>
                    <a:pt x="2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8;p38">
              <a:extLst>
                <a:ext uri="{FF2B5EF4-FFF2-40B4-BE49-F238E27FC236}">
                  <a16:creationId xmlns:a16="http://schemas.microsoft.com/office/drawing/2014/main" id="{C3EDD532-3632-187F-8F35-5AC2B76461E8}"/>
                </a:ext>
              </a:extLst>
            </p:cNvPr>
            <p:cNvSpPr/>
            <p:nvPr/>
          </p:nvSpPr>
          <p:spPr>
            <a:xfrm>
              <a:off x="2563303" y="2098864"/>
              <a:ext cx="123327" cy="184623"/>
            </a:xfrm>
            <a:custGeom>
              <a:avLst/>
              <a:gdLst/>
              <a:ahLst/>
              <a:cxnLst/>
              <a:rect l="l" t="t" r="r" b="b"/>
              <a:pathLst>
                <a:path w="4364" h="6533" extrusionOk="0">
                  <a:moveTo>
                    <a:pt x="2045" y="1"/>
                  </a:moveTo>
                  <a:lnTo>
                    <a:pt x="1" y="5480"/>
                  </a:lnTo>
                  <a:cubicBezTo>
                    <a:pt x="202" y="5649"/>
                    <a:pt x="348" y="5884"/>
                    <a:pt x="399" y="6154"/>
                  </a:cubicBezTo>
                  <a:cubicBezTo>
                    <a:pt x="524" y="6110"/>
                    <a:pt x="655" y="6089"/>
                    <a:pt x="783" y="6089"/>
                  </a:cubicBezTo>
                  <a:cubicBezTo>
                    <a:pt x="885" y="6089"/>
                    <a:pt x="986" y="6102"/>
                    <a:pt x="1082" y="6128"/>
                  </a:cubicBezTo>
                  <a:cubicBezTo>
                    <a:pt x="1326" y="6193"/>
                    <a:pt x="1539" y="6339"/>
                    <a:pt x="1695" y="6533"/>
                  </a:cubicBezTo>
                  <a:lnTo>
                    <a:pt x="4260" y="2659"/>
                  </a:lnTo>
                  <a:cubicBezTo>
                    <a:pt x="4363" y="2504"/>
                    <a:pt x="4343" y="2299"/>
                    <a:pt x="4212" y="2167"/>
                  </a:cubicBezTo>
                  <a:lnTo>
                    <a:pt x="2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9;p38">
              <a:extLst>
                <a:ext uri="{FF2B5EF4-FFF2-40B4-BE49-F238E27FC236}">
                  <a16:creationId xmlns:a16="http://schemas.microsoft.com/office/drawing/2014/main" id="{C05A3234-9F25-A98C-9BC6-36B87F134519}"/>
                </a:ext>
              </a:extLst>
            </p:cNvPr>
            <p:cNvSpPr/>
            <p:nvPr/>
          </p:nvSpPr>
          <p:spPr>
            <a:xfrm>
              <a:off x="2439326" y="2090612"/>
              <a:ext cx="161308" cy="66270"/>
            </a:xfrm>
            <a:custGeom>
              <a:avLst/>
              <a:gdLst/>
              <a:ahLst/>
              <a:cxnLst/>
              <a:rect l="l" t="t" r="r" b="b"/>
              <a:pathLst>
                <a:path w="5708" h="2345" extrusionOk="0">
                  <a:moveTo>
                    <a:pt x="0" y="1"/>
                  </a:moveTo>
                  <a:lnTo>
                    <a:pt x="879" y="2344"/>
                  </a:lnTo>
                  <a:lnTo>
                    <a:pt x="4829" y="2344"/>
                  </a:lnTo>
                  <a:lnTo>
                    <a:pt x="57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0;p38">
              <a:extLst>
                <a:ext uri="{FF2B5EF4-FFF2-40B4-BE49-F238E27FC236}">
                  <a16:creationId xmlns:a16="http://schemas.microsoft.com/office/drawing/2014/main" id="{0F0BC5CB-8971-B2B9-5BCD-1D5A1481870F}"/>
                </a:ext>
              </a:extLst>
            </p:cNvPr>
            <p:cNvSpPr/>
            <p:nvPr/>
          </p:nvSpPr>
          <p:spPr>
            <a:xfrm>
              <a:off x="2419827" y="2267972"/>
              <a:ext cx="200279" cy="199431"/>
            </a:xfrm>
            <a:custGeom>
              <a:avLst/>
              <a:gdLst/>
              <a:ahLst/>
              <a:cxnLst/>
              <a:rect l="l" t="t" r="r" b="b"/>
              <a:pathLst>
                <a:path w="7087" h="7057" extrusionOk="0">
                  <a:moveTo>
                    <a:pt x="3544" y="2344"/>
                  </a:moveTo>
                  <a:cubicBezTo>
                    <a:pt x="4190" y="2344"/>
                    <a:pt x="4716" y="2869"/>
                    <a:pt x="4716" y="3516"/>
                  </a:cubicBezTo>
                  <a:cubicBezTo>
                    <a:pt x="4716" y="4162"/>
                    <a:pt x="4190" y="4687"/>
                    <a:pt x="3544" y="4687"/>
                  </a:cubicBezTo>
                  <a:cubicBezTo>
                    <a:pt x="2898" y="4687"/>
                    <a:pt x="2371" y="4162"/>
                    <a:pt x="2371" y="3516"/>
                  </a:cubicBezTo>
                  <a:cubicBezTo>
                    <a:pt x="2371" y="2869"/>
                    <a:pt x="2898" y="2344"/>
                    <a:pt x="3544" y="2344"/>
                  </a:cubicBezTo>
                  <a:close/>
                  <a:moveTo>
                    <a:pt x="2762" y="1"/>
                  </a:moveTo>
                  <a:cubicBezTo>
                    <a:pt x="2546" y="1"/>
                    <a:pt x="2371" y="176"/>
                    <a:pt x="2371" y="391"/>
                  </a:cubicBezTo>
                  <a:lnTo>
                    <a:pt x="2371" y="1056"/>
                  </a:lnTo>
                  <a:cubicBezTo>
                    <a:pt x="2243" y="1118"/>
                    <a:pt x="2119" y="1190"/>
                    <a:pt x="2001" y="1272"/>
                  </a:cubicBezTo>
                  <a:lnTo>
                    <a:pt x="1424" y="938"/>
                  </a:lnTo>
                  <a:cubicBezTo>
                    <a:pt x="1363" y="904"/>
                    <a:pt x="1295" y="886"/>
                    <a:pt x="1226" y="886"/>
                  </a:cubicBezTo>
                  <a:cubicBezTo>
                    <a:pt x="1193" y="886"/>
                    <a:pt x="1160" y="890"/>
                    <a:pt x="1128" y="899"/>
                  </a:cubicBezTo>
                  <a:cubicBezTo>
                    <a:pt x="1027" y="927"/>
                    <a:pt x="942" y="992"/>
                    <a:pt x="890" y="1081"/>
                  </a:cubicBezTo>
                  <a:lnTo>
                    <a:pt x="108" y="2434"/>
                  </a:lnTo>
                  <a:cubicBezTo>
                    <a:pt x="0" y="2621"/>
                    <a:pt x="65" y="2860"/>
                    <a:pt x="253" y="2968"/>
                  </a:cubicBezTo>
                  <a:lnTo>
                    <a:pt x="820" y="3296"/>
                  </a:lnTo>
                  <a:cubicBezTo>
                    <a:pt x="813" y="3369"/>
                    <a:pt x="810" y="3442"/>
                    <a:pt x="810" y="3516"/>
                  </a:cubicBezTo>
                  <a:cubicBezTo>
                    <a:pt x="810" y="3589"/>
                    <a:pt x="813" y="3663"/>
                    <a:pt x="820" y="3735"/>
                  </a:cubicBezTo>
                  <a:lnTo>
                    <a:pt x="253" y="4063"/>
                  </a:lnTo>
                  <a:cubicBezTo>
                    <a:pt x="65" y="4171"/>
                    <a:pt x="0" y="4410"/>
                    <a:pt x="108" y="4597"/>
                  </a:cubicBezTo>
                  <a:lnTo>
                    <a:pt x="890" y="5950"/>
                  </a:lnTo>
                  <a:cubicBezTo>
                    <a:pt x="963" y="6076"/>
                    <a:pt x="1094" y="6144"/>
                    <a:pt x="1228" y="6144"/>
                  </a:cubicBezTo>
                  <a:cubicBezTo>
                    <a:pt x="1295" y="6144"/>
                    <a:pt x="1362" y="6127"/>
                    <a:pt x="1424" y="6093"/>
                  </a:cubicBezTo>
                  <a:lnTo>
                    <a:pt x="2001" y="5760"/>
                  </a:lnTo>
                  <a:cubicBezTo>
                    <a:pt x="2119" y="5842"/>
                    <a:pt x="2243" y="5913"/>
                    <a:pt x="2371" y="5974"/>
                  </a:cubicBezTo>
                  <a:lnTo>
                    <a:pt x="2371" y="6667"/>
                  </a:lnTo>
                  <a:cubicBezTo>
                    <a:pt x="2371" y="6883"/>
                    <a:pt x="2546" y="7056"/>
                    <a:pt x="2762" y="7056"/>
                  </a:cubicBezTo>
                  <a:lnTo>
                    <a:pt x="4325" y="7056"/>
                  </a:lnTo>
                  <a:cubicBezTo>
                    <a:pt x="4541" y="7056"/>
                    <a:pt x="4716" y="6883"/>
                    <a:pt x="4716" y="6667"/>
                  </a:cubicBezTo>
                  <a:lnTo>
                    <a:pt x="4716" y="5974"/>
                  </a:lnTo>
                  <a:cubicBezTo>
                    <a:pt x="4844" y="5913"/>
                    <a:pt x="4968" y="5842"/>
                    <a:pt x="5086" y="5760"/>
                  </a:cubicBezTo>
                  <a:lnTo>
                    <a:pt x="5664" y="6093"/>
                  </a:lnTo>
                  <a:cubicBezTo>
                    <a:pt x="5725" y="6128"/>
                    <a:pt x="5792" y="6145"/>
                    <a:pt x="5859" y="6145"/>
                  </a:cubicBezTo>
                  <a:cubicBezTo>
                    <a:pt x="5992" y="6145"/>
                    <a:pt x="6124" y="6077"/>
                    <a:pt x="6197" y="5950"/>
                  </a:cubicBezTo>
                  <a:lnTo>
                    <a:pt x="6979" y="4597"/>
                  </a:lnTo>
                  <a:cubicBezTo>
                    <a:pt x="7087" y="4410"/>
                    <a:pt x="7023" y="4171"/>
                    <a:pt x="6836" y="4063"/>
                  </a:cubicBezTo>
                  <a:lnTo>
                    <a:pt x="6267" y="3735"/>
                  </a:lnTo>
                  <a:cubicBezTo>
                    <a:pt x="6275" y="3663"/>
                    <a:pt x="6278" y="3589"/>
                    <a:pt x="6278" y="3516"/>
                  </a:cubicBezTo>
                  <a:cubicBezTo>
                    <a:pt x="6278" y="3442"/>
                    <a:pt x="6275" y="3369"/>
                    <a:pt x="6267" y="3296"/>
                  </a:cubicBezTo>
                  <a:lnTo>
                    <a:pt x="6836" y="2968"/>
                  </a:lnTo>
                  <a:cubicBezTo>
                    <a:pt x="7023" y="2860"/>
                    <a:pt x="7087" y="2622"/>
                    <a:pt x="6979" y="2434"/>
                  </a:cubicBezTo>
                  <a:lnTo>
                    <a:pt x="6197" y="1081"/>
                  </a:lnTo>
                  <a:cubicBezTo>
                    <a:pt x="6124" y="955"/>
                    <a:pt x="5993" y="886"/>
                    <a:pt x="5858" y="886"/>
                  </a:cubicBezTo>
                  <a:cubicBezTo>
                    <a:pt x="5792" y="886"/>
                    <a:pt x="5725" y="903"/>
                    <a:pt x="5664" y="938"/>
                  </a:cubicBezTo>
                  <a:lnTo>
                    <a:pt x="5086" y="1272"/>
                  </a:lnTo>
                  <a:cubicBezTo>
                    <a:pt x="4968" y="1190"/>
                    <a:pt x="4844" y="1118"/>
                    <a:pt x="4716" y="1056"/>
                  </a:cubicBezTo>
                  <a:lnTo>
                    <a:pt x="4716" y="391"/>
                  </a:lnTo>
                  <a:cubicBezTo>
                    <a:pt x="4716" y="176"/>
                    <a:pt x="4541" y="1"/>
                    <a:pt x="4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Footer Placeholder 2">
            <a:extLst>
              <a:ext uri="{FF2B5EF4-FFF2-40B4-BE49-F238E27FC236}">
                <a16:creationId xmlns:a16="http://schemas.microsoft.com/office/drawing/2014/main" id="{6D8FFEC6-3AD4-5AB4-B0EB-E18AB1E42FB4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bg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>
            <a:spLocks noGrp="1"/>
          </p:cNvSpPr>
          <p:nvPr>
            <p:ph type="title"/>
          </p:nvPr>
        </p:nvSpPr>
        <p:spPr>
          <a:xfrm>
            <a:off x="720000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Model Architecture </a:t>
            </a:r>
            <a:endParaRPr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B643BD3-68B6-647A-AF52-413F7F4747B3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D2C136-DD54-BE1E-225C-DB5CA18A1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48" y="1204196"/>
            <a:ext cx="7278904" cy="3075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2;p44">
            <a:extLst>
              <a:ext uri="{FF2B5EF4-FFF2-40B4-BE49-F238E27FC236}">
                <a16:creationId xmlns:a16="http://schemas.microsoft.com/office/drawing/2014/main" id="{BE93FACA-982E-9222-4BA6-5C95526FA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BBFDF-E3C2-CB6E-0C3B-58A4E026A6F3}"/>
              </a:ext>
            </a:extLst>
          </p:cNvPr>
          <p:cNvSpPr txBox="1"/>
          <p:nvPr/>
        </p:nvSpPr>
        <p:spPr>
          <a:xfrm>
            <a:off x="720000" y="1256967"/>
            <a:ext cx="8009472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Font typeface="Wingdings 3" panose="05040102010807070707" pitchFamily="18" charset="2"/>
              <a:buChar char=""/>
              <a:defRPr/>
            </a:pPr>
            <a:r>
              <a:rPr lang="en-US" sz="1800" kern="1200" dirty="0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Dataset: ~10,194 historical shipping records, 18 attributes per record</a:t>
            </a:r>
          </a:p>
          <a:p>
            <a:pPr marL="342900" lvl="0" indent="-3429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Font typeface="Wingdings 3" panose="05040102010807070707" pitchFamily="18" charset="2"/>
              <a:buChar char=""/>
              <a:defRPr/>
            </a:pPr>
            <a:r>
              <a:rPr lang="en-US" sz="1800" kern="1200" dirty="0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Independent variables: Ship Mode (4), Region (4), Factory (5)</a:t>
            </a:r>
          </a:p>
          <a:p>
            <a:pPr marL="342900" lvl="0" indent="-3429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Font typeface="Wingdings 3" panose="05040102010807070707" pitchFamily="18" charset="2"/>
              <a:buChar char=""/>
              <a:defRPr/>
            </a:pPr>
            <a:r>
              <a:rPr lang="en-US" sz="1800" kern="1200" dirty="0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Dependent variable: Relative Lead Time (0–11 days) → Efficiency Score (0–100)</a:t>
            </a:r>
          </a:p>
          <a:p>
            <a:pPr marL="342900" lvl="0" indent="-3429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Font typeface="Wingdings 3" panose="05040102010807070707" pitchFamily="18" charset="2"/>
              <a:buChar char=""/>
              <a:defRPr/>
            </a:pPr>
            <a:r>
              <a:rPr lang="en-US" sz="1800" kern="1200" dirty="0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 Approach: Grouped aggregation by (Factory, Region, Ship Mode) → min-max </a:t>
            </a:r>
            <a:r>
              <a:rPr lang="en-US" sz="1800" kern="1200" dirty="0" err="1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normalisation</a:t>
            </a:r>
            <a:endParaRPr lang="en-US" sz="1800" kern="1200" dirty="0">
              <a:solidFill>
                <a:srgbClr val="404040"/>
              </a:solidFill>
              <a:latin typeface="Century Gothic" panose="020B0502020202020204"/>
              <a:ea typeface="+mn-ea"/>
              <a:cs typeface="+mn-cs"/>
            </a:endParaRPr>
          </a:p>
          <a:p>
            <a:pPr marL="342900" lvl="0" indent="-3429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Font typeface="Wingdings 3" panose="05040102010807070707" pitchFamily="18" charset="2"/>
              <a:buChar char=""/>
              <a:defRPr/>
            </a:pPr>
            <a:r>
              <a:rPr lang="en-US" sz="1800" kern="1200" dirty="0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 Validation: 28 automated unit tests (</a:t>
            </a:r>
            <a:r>
              <a:rPr lang="en-US" sz="1800" kern="1200" dirty="0" err="1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pytest</a:t>
            </a:r>
            <a:r>
              <a:rPr lang="en-US" sz="1800" kern="1200" dirty="0">
                <a:solidFill>
                  <a:srgbClr val="404040"/>
                </a:solidFill>
                <a:latin typeface="Century Gothic" panose="020B0502020202020204"/>
                <a:ea typeface="+mn-ea"/>
                <a:cs typeface="+mn-cs"/>
              </a:rPr>
              <a:t>) — 100% pass rate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615480C-1A5E-7658-A090-BD7A61FEC689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858953-E837-2487-D4D2-DA14A4498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38" y="1055576"/>
            <a:ext cx="7790324" cy="334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4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lang="en-IN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54A5D75-7340-E83F-A578-33CFC76C1C89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8FCC5D-ED3F-EA03-5CE0-AB9E47A6D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309837"/>
              </p:ext>
            </p:extLst>
          </p:nvPr>
        </p:nvGraphicFramePr>
        <p:xfrm>
          <a:off x="712788" y="1534795"/>
          <a:ext cx="7718424" cy="2865120"/>
        </p:xfrm>
        <a:graphic>
          <a:graphicData uri="http://schemas.openxmlformats.org/drawingml/2006/table">
            <a:tbl>
              <a:tblPr>
                <a:tableStyleId>{FB912365-C511-4022-AF8C-7ECC9961BE18}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793785201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238949359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Metric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Value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04237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effectLst/>
                        </a:rPr>
                        <a:t>Total Routes Scored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36 distinct (Factory × Region × Ship Mode) combinations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1935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Highest Efficiency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Pacific region + Same Day (Avg. Score: </a:t>
                      </a:r>
                      <a:r>
                        <a:rPr lang="en-US" sz="1400" b="1">
                          <a:effectLst/>
                        </a:rPr>
                        <a:t>96.3</a:t>
                      </a:r>
                      <a:r>
                        <a:rPr lang="en-US" sz="1400">
                          <a:effectLst/>
                        </a:rPr>
                        <a:t>)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73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Lowest Efficiency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Gulf region + Standard Class (Avg. Score: </a:t>
                      </a:r>
                      <a:r>
                        <a:rPr lang="en-US" sz="1400" b="1">
                          <a:effectLst/>
                        </a:rPr>
                        <a:t>71.2</a:t>
                      </a:r>
                      <a:r>
                        <a:rPr lang="en-US" sz="1400">
                          <a:effectLst/>
                        </a:rPr>
                        <a:t>)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4612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Lead Time Signal Range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0–11 days (relative), after cohort normalization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29019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Unit Tests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28 tests, all passing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7502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Dashboard Charts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10 interactive Plotly charts across 4 tabs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2297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Source Modules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12 Python modules, ~1,400 lines total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587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710D1-B97E-ADC0-619F-226D4140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590273"/>
            <a:ext cx="6827519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08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00962-E48E-AA67-6A2B-1DFD9C9FC10F}"/>
              </a:ext>
            </a:extLst>
          </p:cNvPr>
          <p:cNvSpPr txBox="1"/>
          <p:nvPr/>
        </p:nvSpPr>
        <p:spPr>
          <a:xfrm>
            <a:off x="182880" y="1112200"/>
            <a:ext cx="87660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[1] </a:t>
            </a:r>
            <a:r>
              <a:rPr lang="en-IN" sz="1600" dirty="0" err="1"/>
              <a:t>Streamlit</a:t>
            </a:r>
            <a:r>
              <a:rPr lang="en-IN" sz="1600" dirty="0"/>
              <a:t> Inc. (2024). </a:t>
            </a:r>
            <a:r>
              <a:rPr lang="en-IN" sz="1600" dirty="0" err="1"/>
              <a:t>Streamlit</a:t>
            </a:r>
            <a:r>
              <a:rPr lang="en-IN" sz="1600" dirty="0"/>
              <a:t> Documentation. Retrieved from https://docs. streamlit.io </a:t>
            </a:r>
          </a:p>
          <a:p>
            <a:r>
              <a:rPr lang="en-IN" sz="1600" dirty="0"/>
              <a:t>[2] Plotly Technologies Inc. (2024). Plotly Python Open Source Graphing Library. Retrieved from </a:t>
            </a:r>
            <a:r>
              <a:rPr lang="en-IN" sz="1600" dirty="0">
                <a:hlinkClick r:id="rId2"/>
              </a:rPr>
              <a:t>https://plotly.com/python</a:t>
            </a:r>
            <a:endParaRPr lang="en-IN" sz="1600" dirty="0"/>
          </a:p>
          <a:p>
            <a:r>
              <a:rPr lang="en-IN" sz="1600" dirty="0"/>
              <a:t> [3] The Pandas Development Team. (2024). pandas: Powerful Python Data Analysis Toolkit (Version 3.0.2). Retrieved from https://pandas.pydata.org </a:t>
            </a:r>
          </a:p>
          <a:p>
            <a:r>
              <a:rPr lang="en-IN" sz="1600" dirty="0"/>
              <a:t>[4] Niels Bantilan et al. (2024). </a:t>
            </a:r>
            <a:r>
              <a:rPr lang="en-IN" sz="1600" dirty="0" err="1"/>
              <a:t>pandera</a:t>
            </a:r>
            <a:r>
              <a:rPr lang="en-IN" sz="1600" dirty="0"/>
              <a:t>: Statistical Data Testing and Validation for Pandas (Version 0.30.1). Retrieved from https://pandera.readthedocs.io </a:t>
            </a:r>
          </a:p>
          <a:p>
            <a:r>
              <a:rPr lang="en-IN" sz="1600" dirty="0"/>
              <a:t>[5] Harris, C. R., Millman, K. J., van der Walt, S. J., et al. (2020). Array programming with NumPy. Nature, 585, 357–362.</a:t>
            </a:r>
          </a:p>
          <a:p>
            <a:r>
              <a:rPr lang="en-IN" sz="1600" dirty="0"/>
              <a:t> [6] McKinney, W. (2022). Python for Data Analysis: Data Wrangling with pandas, NumPy, and </a:t>
            </a:r>
            <a:r>
              <a:rPr lang="en-IN" sz="1600" dirty="0" err="1"/>
              <a:t>Jupyter</a:t>
            </a:r>
            <a:r>
              <a:rPr lang="en-IN" sz="1600" dirty="0"/>
              <a:t> (3rd ed.). O’Reilly Media. </a:t>
            </a:r>
          </a:p>
          <a:p>
            <a:r>
              <a:rPr lang="en-IN" sz="1600" dirty="0"/>
              <a:t>[7] Rushton, A., Croucher, P., &amp;Baker, P.(2014).</a:t>
            </a:r>
            <a:r>
              <a:rPr lang="en-IN" sz="1600" dirty="0" err="1"/>
              <a:t>TheHandbookofLogisticsandDistribution</a:t>
            </a:r>
            <a:r>
              <a:rPr lang="en-IN" sz="1600" dirty="0"/>
              <a:t> Management (5th ed.). Kogan Page. </a:t>
            </a:r>
          </a:p>
          <a:p>
            <a:r>
              <a:rPr lang="en-IN" sz="1600" dirty="0"/>
              <a:t>[8] </a:t>
            </a:r>
            <a:r>
              <a:rPr lang="en-IN" sz="1600" dirty="0" err="1"/>
              <a:t>Few,S</a:t>
            </a:r>
            <a:r>
              <a:rPr lang="en-IN" sz="1600" dirty="0"/>
              <a:t>.(2009).</a:t>
            </a:r>
            <a:r>
              <a:rPr lang="en-IN" sz="1600" dirty="0" err="1"/>
              <a:t>NowYouSeeIt</a:t>
            </a:r>
            <a:r>
              <a:rPr lang="en-IN" sz="1600" dirty="0"/>
              <a:t>: </a:t>
            </a:r>
            <a:r>
              <a:rPr lang="en-IN" sz="1600" dirty="0" err="1"/>
              <a:t>SimpleVisualizationTechniquesforQuantitativeAnalysis</a:t>
            </a:r>
            <a:r>
              <a:rPr lang="en-IN" sz="1600" dirty="0"/>
              <a:t>. Analytics Press</a:t>
            </a:r>
          </a:p>
        </p:txBody>
      </p:sp>
    </p:spTree>
    <p:extLst>
      <p:ext uri="{BB962C8B-B14F-4D97-AF65-F5344CB8AC3E}">
        <p14:creationId xmlns:p14="http://schemas.microsoft.com/office/powerpoint/2010/main" val="1117740574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827</Words>
  <Application>Microsoft Office PowerPoint</Application>
  <PresentationFormat>On-screen Show (16:9)</PresentationFormat>
  <Paragraphs>90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Wingdings</vt:lpstr>
      <vt:lpstr>Wingdings 3</vt:lpstr>
      <vt:lpstr>Calibri</vt:lpstr>
      <vt:lpstr>Poppins</vt:lpstr>
      <vt:lpstr>Anaheim</vt:lpstr>
      <vt:lpstr>Arial</vt:lpstr>
      <vt:lpstr>Google Sans Text</vt:lpstr>
      <vt:lpstr>Century Gothic</vt:lpstr>
      <vt:lpstr>Nunito Light</vt:lpstr>
      <vt:lpstr>Industrial Preliminary Project by Slidesgo</vt:lpstr>
      <vt:lpstr>PowerPoint Presentation</vt:lpstr>
      <vt:lpstr>PowerPoint Presentation</vt:lpstr>
      <vt:lpstr>TABLE OF CONTENTS</vt:lpstr>
      <vt:lpstr>INTERNSHIP OVERVIEW</vt:lpstr>
      <vt:lpstr>PowerPoint Presentation</vt:lpstr>
      <vt:lpstr>INTRODUCTION</vt:lpstr>
      <vt:lpstr>PROBLEM DEFINITION </vt:lpstr>
      <vt:lpstr>Model Architecture </vt:lpstr>
      <vt:lpstr>EXPERIMENTATION</vt:lpstr>
      <vt:lpstr>PowerPoint Presentation</vt:lpstr>
      <vt:lpstr>RESULTS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PRELIMINARY PROJECT</dc:title>
  <dc:creator>DSU</dc:creator>
  <cp:lastModifiedBy>Rahul Vijay</cp:lastModifiedBy>
  <cp:revision>8</cp:revision>
  <dcterms:modified xsi:type="dcterms:W3CDTF">2026-04-11T03:00:56Z</dcterms:modified>
</cp:coreProperties>
</file>