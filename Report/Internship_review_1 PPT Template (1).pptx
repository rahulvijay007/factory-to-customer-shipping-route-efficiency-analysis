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1"/>
  </p:notesMasterIdLst>
  <p:sldIdLst>
    <p:sldId id="256" r:id="rId2"/>
    <p:sldId id="268" r:id="rId3"/>
    <p:sldId id="258" r:id="rId4"/>
    <p:sldId id="259" r:id="rId5"/>
    <p:sldId id="262" r:id="rId6"/>
    <p:sldId id="261" r:id="rId7"/>
    <p:sldId id="264" r:id="rId8"/>
    <p:sldId id="267" r:id="rId9"/>
    <p:sldId id="263" r:id="rId10"/>
  </p:sldIdLst>
  <p:sldSz cx="9144000" cy="5143500" type="screen16x9"/>
  <p:notesSz cx="6858000" cy="9144000"/>
  <p:embeddedFontLst>
    <p:embeddedFont>
      <p:font typeface="Anaheim" panose="020B0604020202020204" charset="0"/>
      <p:regular r:id="rId12"/>
    </p:embeddedFont>
    <p:embeddedFont>
      <p:font typeface="Century Gothic" panose="020B0502020202020204" pitchFamily="34" charset="0"/>
      <p:regular r:id="rId13"/>
      <p:bold r:id="rId14"/>
      <p:italic r:id="rId15"/>
      <p:boldItalic r:id="rId16"/>
    </p:embeddedFont>
    <p:embeddedFont>
      <p:font typeface="Nunito Light" pitchFamily="2" charset="0"/>
      <p:regular r:id="rId17"/>
      <p:italic r:id="rId18"/>
    </p:embeddedFont>
    <p:embeddedFont>
      <p:font typeface="Poppins" panose="00000500000000000000" pitchFamily="2" charset="0"/>
      <p:regular r:id="rId19"/>
      <p:bold r:id="rId20"/>
      <p:italic r:id="rId21"/>
      <p:boldItalic r:id="rId22"/>
    </p:embeddedFont>
    <p:embeddedFont>
      <p:font typeface="Wingdings 3" panose="05040102010807070707" pitchFamily="18" charset="2"/>
      <p:regular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A6414FD-CAFD-4A95-A8FD-13665D0874B3}">
  <a:tblStyle styleId="{9A6414FD-CAFD-4A95-A8FD-13665D0874B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B912365-C511-4022-AF8C-7ECC9961BE1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9034" autoAdjust="0"/>
    <p:restoredTop sz="94660"/>
  </p:normalViewPr>
  <p:slideViewPr>
    <p:cSldViewPr snapToGrid="0">
      <p:cViewPr varScale="1">
        <p:scale>
          <a:sx n="72" d="100"/>
          <a:sy n="72" d="100"/>
        </p:scale>
        <p:origin x="43" y="6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184d99d1a72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184d99d1a72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972300" y="1482800"/>
            <a:ext cx="7199400" cy="14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72300" y="3239202"/>
            <a:ext cx="7199400" cy="421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6825" y="1613"/>
            <a:ext cx="9163538" cy="5147081"/>
            <a:chOff x="-21325" y="-6819"/>
            <a:chExt cx="9163538" cy="5147081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2626712" y="4610687"/>
              <a:ext cx="6515501" cy="529575"/>
              <a:chOff x="2626712" y="4610687"/>
              <a:chExt cx="6515501" cy="529575"/>
            </a:xfrm>
          </p:grpSpPr>
          <p:pic>
            <p:nvPicPr>
              <p:cNvPr id="14" name="Google Shape;14;p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10800000">
                <a:off x="2626712" y="4610687"/>
                <a:ext cx="6515501" cy="5295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" name="Google Shape;15;p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10800000">
                <a:off x="7293388" y="4840980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" name="Google Shape;16;p2"/>
            <p:cNvGrpSpPr/>
            <p:nvPr/>
          </p:nvGrpSpPr>
          <p:grpSpPr>
            <a:xfrm>
              <a:off x="-21325" y="-6819"/>
              <a:ext cx="6523526" cy="536050"/>
              <a:chOff x="-21325" y="-6819"/>
              <a:chExt cx="6523526" cy="536050"/>
            </a:xfrm>
          </p:grpSpPr>
          <p:pic>
            <p:nvPicPr>
              <p:cNvPr id="17" name="Google Shape;17;p2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-21325" y="-6819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" name="Google Shape;18;p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43800" y="239786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9" name="Google Shape;19;p2"/>
          <p:cNvGrpSpPr/>
          <p:nvPr/>
        </p:nvGrpSpPr>
        <p:grpSpPr>
          <a:xfrm>
            <a:off x="-6819" y="-7400"/>
            <a:ext cx="9157637" cy="5158300"/>
            <a:chOff x="0" y="0"/>
            <a:chExt cx="9157637" cy="5158300"/>
          </a:xfrm>
        </p:grpSpPr>
        <p:pic>
          <p:nvPicPr>
            <p:cNvPr id="20" name="Google Shape;20;p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906088" y="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0" y="390675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1"/>
          </p:nvPr>
        </p:nvSpPr>
        <p:spPr>
          <a:xfrm>
            <a:off x="3553500" y="3054555"/>
            <a:ext cx="47871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2"/>
          </p:nvPr>
        </p:nvSpPr>
        <p:spPr>
          <a:xfrm>
            <a:off x="3553500" y="1649136"/>
            <a:ext cx="47871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3"/>
          </p:nvPr>
        </p:nvSpPr>
        <p:spPr>
          <a:xfrm>
            <a:off x="1859700" y="1649136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4"/>
          </p:nvPr>
        </p:nvSpPr>
        <p:spPr>
          <a:xfrm>
            <a:off x="1859700" y="3054549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grpSp>
        <p:nvGrpSpPr>
          <p:cNvPr id="47" name="Google Shape;47;p5"/>
          <p:cNvGrpSpPr/>
          <p:nvPr/>
        </p:nvGrpSpPr>
        <p:grpSpPr>
          <a:xfrm rot="10800000">
            <a:off x="2620475" y="4773475"/>
            <a:ext cx="6523526" cy="369900"/>
            <a:chOff x="0" y="0"/>
            <a:chExt cx="6523526" cy="369900"/>
          </a:xfrm>
        </p:grpSpPr>
        <p:pic>
          <p:nvPicPr>
            <p:cNvPr id="48" name="Google Shape;48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" name="Google Shape;49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0" name="Google Shape;50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4170737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54" name="Google Shape;54;p6"/>
          <p:cNvPicPr preferRelativeResize="0"/>
          <p:nvPr/>
        </p:nvPicPr>
        <p:blipFill rotWithShape="1">
          <a:blip r:embed="rId3">
            <a:alphaModFix/>
          </a:blip>
          <a:srcRect l="31651" t="130" b="18270"/>
          <a:stretch/>
        </p:blipFill>
        <p:spPr>
          <a:xfrm rot="10800000" flipH="1">
            <a:off x="8199274" y="11375"/>
            <a:ext cx="1173326" cy="107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-1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713225" y="987538"/>
            <a:ext cx="4294800" cy="10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subTitle" idx="1"/>
          </p:nvPr>
        </p:nvSpPr>
        <p:spPr>
          <a:xfrm>
            <a:off x="713225" y="2109663"/>
            <a:ext cx="4294800" cy="25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>
            <a:spLocks noGrp="1"/>
          </p:cNvSpPr>
          <p:nvPr>
            <p:ph type="pic" idx="2"/>
          </p:nvPr>
        </p:nvSpPr>
        <p:spPr>
          <a:xfrm>
            <a:off x="5643775" y="539500"/>
            <a:ext cx="2787000" cy="40644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pic>
        <p:nvPicPr>
          <p:cNvPr id="61" name="Google Shape;6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 flipH="1">
            <a:off x="-25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7"/>
          <p:cNvPicPr preferRelativeResize="0"/>
          <p:nvPr/>
        </p:nvPicPr>
        <p:blipFill rotWithShape="1">
          <a:blip r:embed="rId4">
            <a:alphaModFix/>
          </a:blip>
          <a:srcRect t="129" b="129"/>
          <a:stretch/>
        </p:blipFill>
        <p:spPr>
          <a:xfrm rot="-5400000">
            <a:off x="7509601" y="3503753"/>
            <a:ext cx="1716695" cy="13079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7"/>
          <p:cNvGrpSpPr/>
          <p:nvPr/>
        </p:nvGrpSpPr>
        <p:grpSpPr>
          <a:xfrm>
            <a:off x="0" y="0"/>
            <a:ext cx="5837899" cy="536050"/>
            <a:chOff x="0" y="0"/>
            <a:chExt cx="5837899" cy="536050"/>
          </a:xfrm>
        </p:grpSpPr>
        <p:pic>
          <p:nvPicPr>
            <p:cNvPr id="64" name="Google Shape;64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0" y="0"/>
              <a:ext cx="5837899" cy="536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65125" y="2466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3">
            <a:alphaModFix/>
          </a:blip>
          <a:srcRect b="22420"/>
          <a:stretch/>
        </p:blipFill>
        <p:spPr>
          <a:xfrm rot="5400000">
            <a:off x="-257665" y="461283"/>
            <a:ext cx="1768000" cy="10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7890675" y="0"/>
            <a:ext cx="1251550" cy="125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" name="Google Shape;71;p8"/>
          <p:cNvGrpSpPr/>
          <p:nvPr/>
        </p:nvGrpSpPr>
        <p:grpSpPr>
          <a:xfrm>
            <a:off x="3881699" y="4752250"/>
            <a:ext cx="5260526" cy="388025"/>
            <a:chOff x="3881699" y="4752250"/>
            <a:chExt cx="5260526" cy="388025"/>
          </a:xfrm>
        </p:grpSpPr>
        <p:pic>
          <p:nvPicPr>
            <p:cNvPr id="72" name="Google Shape;72;p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3881699" y="4752250"/>
              <a:ext cx="5260526" cy="38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78" name="Google Shape;78;p9"/>
          <p:cNvGrpSpPr/>
          <p:nvPr/>
        </p:nvGrpSpPr>
        <p:grpSpPr>
          <a:xfrm>
            <a:off x="-1" y="2100"/>
            <a:ext cx="9144001" cy="5141388"/>
            <a:chOff x="-1" y="2100"/>
            <a:chExt cx="9144001" cy="5141388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 flipH="1">
              <a:off x="8171225" y="210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 flipH="1">
              <a:off x="-1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1" name="Google Shape;81;p9"/>
          <p:cNvGrpSpPr/>
          <p:nvPr/>
        </p:nvGrpSpPr>
        <p:grpSpPr>
          <a:xfrm rot="10800000">
            <a:off x="0" y="2100"/>
            <a:ext cx="4881173" cy="365700"/>
            <a:chOff x="4261050" y="4610675"/>
            <a:chExt cx="4881173" cy="365700"/>
          </a:xfrm>
        </p:grpSpPr>
        <p:pic>
          <p:nvPicPr>
            <p:cNvPr id="82" name="Google Shape;82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4261050" y="4610675"/>
              <a:ext cx="4881173" cy="36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75903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title" idx="2" hasCustomPrompt="1"/>
          </p:nvPr>
        </p:nvSpPr>
        <p:spPr>
          <a:xfrm>
            <a:off x="3759205" y="1699096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 idx="3" hasCustomPrompt="1"/>
          </p:nvPr>
        </p:nvSpPr>
        <p:spPr>
          <a:xfrm>
            <a:off x="4690005" y="1699096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8" name="Google Shape;108;p13"/>
          <p:cNvSpPr txBox="1">
            <a:spLocks noGrp="1"/>
          </p:cNvSpPr>
          <p:nvPr>
            <p:ph type="title" idx="4" hasCustomPrompt="1"/>
          </p:nvPr>
        </p:nvSpPr>
        <p:spPr>
          <a:xfrm>
            <a:off x="3759193" y="2781754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 idx="5" hasCustomPrompt="1"/>
          </p:nvPr>
        </p:nvSpPr>
        <p:spPr>
          <a:xfrm>
            <a:off x="4689993" y="2781754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0" name="Google Shape;110;p13"/>
          <p:cNvSpPr txBox="1">
            <a:spLocks noGrp="1"/>
          </p:cNvSpPr>
          <p:nvPr>
            <p:ph type="title" idx="6" hasCustomPrompt="1"/>
          </p:nvPr>
        </p:nvSpPr>
        <p:spPr>
          <a:xfrm>
            <a:off x="3759207" y="3864413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7" hasCustomPrompt="1"/>
          </p:nvPr>
        </p:nvSpPr>
        <p:spPr>
          <a:xfrm>
            <a:off x="4690007" y="3864413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1"/>
          </p:nvPr>
        </p:nvSpPr>
        <p:spPr>
          <a:xfrm>
            <a:off x="1280600" y="1699100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8"/>
          </p:nvPr>
        </p:nvSpPr>
        <p:spPr>
          <a:xfrm>
            <a:off x="1280600" y="2781762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9"/>
          </p:nvPr>
        </p:nvSpPr>
        <p:spPr>
          <a:xfrm>
            <a:off x="1280600" y="3864423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13"/>
          </p:nvPr>
        </p:nvSpPr>
        <p:spPr>
          <a:xfrm>
            <a:off x="5575300" y="1699096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ubTitle" idx="14"/>
          </p:nvPr>
        </p:nvSpPr>
        <p:spPr>
          <a:xfrm>
            <a:off x="5575300" y="2781754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subTitle" idx="15"/>
          </p:nvPr>
        </p:nvSpPr>
        <p:spPr>
          <a:xfrm>
            <a:off x="5575300" y="3864413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grpSp>
        <p:nvGrpSpPr>
          <p:cNvPr id="118" name="Google Shape;118;p13"/>
          <p:cNvGrpSpPr/>
          <p:nvPr/>
        </p:nvGrpSpPr>
        <p:grpSpPr>
          <a:xfrm flipH="1">
            <a:off x="2620475" y="0"/>
            <a:ext cx="6523526" cy="369900"/>
            <a:chOff x="0" y="0"/>
            <a:chExt cx="6523526" cy="369900"/>
          </a:xfrm>
        </p:grpSpPr>
        <p:pic>
          <p:nvPicPr>
            <p:cNvPr id="119" name="Google Shape;119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1" name="Google Shape;121;p13"/>
          <p:cNvGrpSpPr/>
          <p:nvPr/>
        </p:nvGrpSpPr>
        <p:grpSpPr>
          <a:xfrm flipH="1">
            <a:off x="0" y="0"/>
            <a:ext cx="9144000" cy="5143512"/>
            <a:chOff x="0" y="0"/>
            <a:chExt cx="9144000" cy="5143512"/>
          </a:xfrm>
        </p:grpSpPr>
        <p:pic>
          <p:nvPicPr>
            <p:cNvPr id="122" name="Google Shape;122;p1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1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>
            <a:spLocks noGrp="1"/>
          </p:cNvSpPr>
          <p:nvPr>
            <p:ph type="title"/>
          </p:nvPr>
        </p:nvSpPr>
        <p:spPr>
          <a:xfrm>
            <a:off x="720000" y="53849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17"/>
          <p:cNvSpPr txBox="1">
            <a:spLocks noGrp="1"/>
          </p:cNvSpPr>
          <p:nvPr>
            <p:ph type="subTitle" idx="1"/>
          </p:nvPr>
        </p:nvSpPr>
        <p:spPr>
          <a:xfrm>
            <a:off x="709750" y="2636600"/>
            <a:ext cx="2225700" cy="19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17"/>
          <p:cNvSpPr txBox="1">
            <a:spLocks noGrp="1"/>
          </p:cNvSpPr>
          <p:nvPr>
            <p:ph type="subTitle" idx="2"/>
          </p:nvPr>
        </p:nvSpPr>
        <p:spPr>
          <a:xfrm>
            <a:off x="3457413" y="2636600"/>
            <a:ext cx="2225700" cy="19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17"/>
          <p:cNvSpPr txBox="1">
            <a:spLocks noGrp="1"/>
          </p:cNvSpPr>
          <p:nvPr>
            <p:ph type="subTitle" idx="3"/>
          </p:nvPr>
        </p:nvSpPr>
        <p:spPr>
          <a:xfrm>
            <a:off x="6205076" y="2636600"/>
            <a:ext cx="2225700" cy="19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7"/>
          <p:cNvSpPr txBox="1">
            <a:spLocks noGrp="1"/>
          </p:cNvSpPr>
          <p:nvPr>
            <p:ph type="subTitle" idx="4"/>
          </p:nvPr>
        </p:nvSpPr>
        <p:spPr>
          <a:xfrm>
            <a:off x="709758" y="2073291"/>
            <a:ext cx="22257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58" name="Google Shape;158;p17"/>
          <p:cNvSpPr txBox="1">
            <a:spLocks noGrp="1"/>
          </p:cNvSpPr>
          <p:nvPr>
            <p:ph type="subTitle" idx="5"/>
          </p:nvPr>
        </p:nvSpPr>
        <p:spPr>
          <a:xfrm>
            <a:off x="3459159" y="2073291"/>
            <a:ext cx="22257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59" name="Google Shape;159;p17"/>
          <p:cNvSpPr txBox="1">
            <a:spLocks noGrp="1"/>
          </p:cNvSpPr>
          <p:nvPr>
            <p:ph type="subTitle" idx="6"/>
          </p:nvPr>
        </p:nvSpPr>
        <p:spPr>
          <a:xfrm>
            <a:off x="6205085" y="2073291"/>
            <a:ext cx="22257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pic>
        <p:nvPicPr>
          <p:cNvPr id="160" name="Google Shape;16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8171200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1" name="Google Shape;161;p17"/>
          <p:cNvGrpSpPr/>
          <p:nvPr/>
        </p:nvGrpSpPr>
        <p:grpSpPr>
          <a:xfrm flipH="1">
            <a:off x="2620475" y="0"/>
            <a:ext cx="6523526" cy="369900"/>
            <a:chOff x="0" y="0"/>
            <a:chExt cx="6523526" cy="369900"/>
          </a:xfrm>
        </p:grpSpPr>
        <p:pic>
          <p:nvPicPr>
            <p:cNvPr id="162" name="Google Shape;162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1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18"/>
          <p:cNvSpPr txBox="1">
            <a:spLocks noGrp="1"/>
          </p:cNvSpPr>
          <p:nvPr>
            <p:ph type="subTitle" idx="1"/>
          </p:nvPr>
        </p:nvSpPr>
        <p:spPr>
          <a:xfrm>
            <a:off x="720000" y="1679350"/>
            <a:ext cx="35496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18"/>
          <p:cNvSpPr txBox="1">
            <a:spLocks noGrp="1"/>
          </p:cNvSpPr>
          <p:nvPr>
            <p:ph type="subTitle" idx="2"/>
          </p:nvPr>
        </p:nvSpPr>
        <p:spPr>
          <a:xfrm>
            <a:off x="4881166" y="1679350"/>
            <a:ext cx="35496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18"/>
          <p:cNvSpPr txBox="1">
            <a:spLocks noGrp="1"/>
          </p:cNvSpPr>
          <p:nvPr>
            <p:ph type="subTitle" idx="3"/>
          </p:nvPr>
        </p:nvSpPr>
        <p:spPr>
          <a:xfrm>
            <a:off x="720000" y="3396200"/>
            <a:ext cx="35496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18"/>
          <p:cNvSpPr txBox="1">
            <a:spLocks noGrp="1"/>
          </p:cNvSpPr>
          <p:nvPr>
            <p:ph type="subTitle" idx="4"/>
          </p:nvPr>
        </p:nvSpPr>
        <p:spPr>
          <a:xfrm>
            <a:off x="4881166" y="3396200"/>
            <a:ext cx="35496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8"/>
          <p:cNvSpPr txBox="1">
            <a:spLocks noGrp="1"/>
          </p:cNvSpPr>
          <p:nvPr>
            <p:ph type="subTitle" idx="5"/>
          </p:nvPr>
        </p:nvSpPr>
        <p:spPr>
          <a:xfrm>
            <a:off x="720000" y="1429886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72" name="Google Shape;172;p18"/>
          <p:cNvSpPr txBox="1">
            <a:spLocks noGrp="1"/>
          </p:cNvSpPr>
          <p:nvPr>
            <p:ph type="subTitle" idx="6"/>
          </p:nvPr>
        </p:nvSpPr>
        <p:spPr>
          <a:xfrm>
            <a:off x="720000" y="3146911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73" name="Google Shape;173;p18"/>
          <p:cNvSpPr txBox="1">
            <a:spLocks noGrp="1"/>
          </p:cNvSpPr>
          <p:nvPr>
            <p:ph type="subTitle" idx="7"/>
          </p:nvPr>
        </p:nvSpPr>
        <p:spPr>
          <a:xfrm>
            <a:off x="4881127" y="1429886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74" name="Google Shape;174;p18"/>
          <p:cNvSpPr txBox="1">
            <a:spLocks noGrp="1"/>
          </p:cNvSpPr>
          <p:nvPr>
            <p:ph type="subTitle" idx="8"/>
          </p:nvPr>
        </p:nvSpPr>
        <p:spPr>
          <a:xfrm>
            <a:off x="4881130" y="3146911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grpSp>
        <p:nvGrpSpPr>
          <p:cNvPr id="175" name="Google Shape;175;p18"/>
          <p:cNvGrpSpPr/>
          <p:nvPr/>
        </p:nvGrpSpPr>
        <p:grpSpPr>
          <a:xfrm>
            <a:off x="-1" y="-4719"/>
            <a:ext cx="9144001" cy="5148207"/>
            <a:chOff x="-1" y="-4719"/>
            <a:chExt cx="9144001" cy="5148207"/>
          </a:xfrm>
        </p:grpSpPr>
        <p:pic>
          <p:nvPicPr>
            <p:cNvPr id="176" name="Google Shape;176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 flipH="1">
              <a:off x="8171225" y="-4719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" name="Google Shape;177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 flipH="1">
              <a:off x="-1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8" name="Google Shape;178;p18"/>
          <p:cNvGrpSpPr/>
          <p:nvPr/>
        </p:nvGrpSpPr>
        <p:grpSpPr>
          <a:xfrm rot="10800000">
            <a:off x="0" y="-4719"/>
            <a:ext cx="4881173" cy="365700"/>
            <a:chOff x="4261050" y="4610675"/>
            <a:chExt cx="4881173" cy="365700"/>
          </a:xfrm>
        </p:grpSpPr>
        <p:pic>
          <p:nvPicPr>
            <p:cNvPr id="179" name="Google Shape;179;p1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4261050" y="4610675"/>
              <a:ext cx="4881173" cy="36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" name="Google Shape;180;p1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75903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19"/>
          <p:cNvSpPr txBox="1">
            <a:spLocks noGrp="1"/>
          </p:cNvSpPr>
          <p:nvPr>
            <p:ph type="subTitle" idx="1"/>
          </p:nvPr>
        </p:nvSpPr>
        <p:spPr>
          <a:xfrm>
            <a:off x="720075" y="1682496"/>
            <a:ext cx="23631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19"/>
          <p:cNvSpPr txBox="1">
            <a:spLocks noGrp="1"/>
          </p:cNvSpPr>
          <p:nvPr>
            <p:ph type="subTitle" idx="2"/>
          </p:nvPr>
        </p:nvSpPr>
        <p:spPr>
          <a:xfrm>
            <a:off x="3393880" y="1682496"/>
            <a:ext cx="23631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19"/>
          <p:cNvSpPr txBox="1">
            <a:spLocks noGrp="1"/>
          </p:cNvSpPr>
          <p:nvPr>
            <p:ph type="subTitle" idx="3"/>
          </p:nvPr>
        </p:nvSpPr>
        <p:spPr>
          <a:xfrm>
            <a:off x="720075" y="3398557"/>
            <a:ext cx="23631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19"/>
          <p:cNvSpPr txBox="1">
            <a:spLocks noGrp="1"/>
          </p:cNvSpPr>
          <p:nvPr>
            <p:ph type="subTitle" idx="4"/>
          </p:nvPr>
        </p:nvSpPr>
        <p:spPr>
          <a:xfrm>
            <a:off x="3393880" y="3398557"/>
            <a:ext cx="23631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19"/>
          <p:cNvSpPr txBox="1">
            <a:spLocks noGrp="1"/>
          </p:cNvSpPr>
          <p:nvPr>
            <p:ph type="subTitle" idx="5"/>
          </p:nvPr>
        </p:nvSpPr>
        <p:spPr>
          <a:xfrm>
            <a:off x="6067686" y="1682496"/>
            <a:ext cx="23631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19"/>
          <p:cNvSpPr txBox="1">
            <a:spLocks noGrp="1"/>
          </p:cNvSpPr>
          <p:nvPr>
            <p:ph type="subTitle" idx="6"/>
          </p:nvPr>
        </p:nvSpPr>
        <p:spPr>
          <a:xfrm>
            <a:off x="6067686" y="3398557"/>
            <a:ext cx="23631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19"/>
          <p:cNvSpPr txBox="1">
            <a:spLocks noGrp="1"/>
          </p:cNvSpPr>
          <p:nvPr>
            <p:ph type="subTitle" idx="7"/>
          </p:nvPr>
        </p:nvSpPr>
        <p:spPr>
          <a:xfrm>
            <a:off x="720075" y="1426464"/>
            <a:ext cx="2363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91" name="Google Shape;191;p19"/>
          <p:cNvSpPr txBox="1">
            <a:spLocks noGrp="1"/>
          </p:cNvSpPr>
          <p:nvPr>
            <p:ph type="subTitle" idx="8"/>
          </p:nvPr>
        </p:nvSpPr>
        <p:spPr>
          <a:xfrm>
            <a:off x="3395380" y="1426464"/>
            <a:ext cx="2360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92" name="Google Shape;192;p19"/>
          <p:cNvSpPr txBox="1">
            <a:spLocks noGrp="1"/>
          </p:cNvSpPr>
          <p:nvPr>
            <p:ph type="subTitle" idx="9"/>
          </p:nvPr>
        </p:nvSpPr>
        <p:spPr>
          <a:xfrm>
            <a:off x="6067686" y="1426464"/>
            <a:ext cx="2360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93" name="Google Shape;193;p19"/>
          <p:cNvSpPr txBox="1">
            <a:spLocks noGrp="1"/>
          </p:cNvSpPr>
          <p:nvPr>
            <p:ph type="subTitle" idx="13"/>
          </p:nvPr>
        </p:nvSpPr>
        <p:spPr>
          <a:xfrm>
            <a:off x="720075" y="3145536"/>
            <a:ext cx="2363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94" name="Google Shape;194;p19"/>
          <p:cNvSpPr txBox="1">
            <a:spLocks noGrp="1"/>
          </p:cNvSpPr>
          <p:nvPr>
            <p:ph type="subTitle" idx="14"/>
          </p:nvPr>
        </p:nvSpPr>
        <p:spPr>
          <a:xfrm>
            <a:off x="3393880" y="3145541"/>
            <a:ext cx="2360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95" name="Google Shape;195;p19"/>
          <p:cNvSpPr txBox="1">
            <a:spLocks noGrp="1"/>
          </p:cNvSpPr>
          <p:nvPr>
            <p:ph type="subTitle" idx="15"/>
          </p:nvPr>
        </p:nvSpPr>
        <p:spPr>
          <a:xfrm>
            <a:off x="6067686" y="3145541"/>
            <a:ext cx="2360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pic>
        <p:nvPicPr>
          <p:cNvPr id="196" name="Google Shape;196;p19"/>
          <p:cNvPicPr preferRelativeResize="0"/>
          <p:nvPr/>
        </p:nvPicPr>
        <p:blipFill rotWithShape="1">
          <a:blip r:embed="rId3">
            <a:alphaModFix/>
          </a:blip>
          <a:srcRect l="68148" b="22414"/>
          <a:stretch/>
        </p:blipFill>
        <p:spPr>
          <a:xfrm rot="10800000">
            <a:off x="8580849" y="64376"/>
            <a:ext cx="563126" cy="1047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8171225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8"/>
          <p:cNvPicPr preferRelativeResize="0"/>
          <p:nvPr/>
        </p:nvPicPr>
        <p:blipFill rotWithShape="1">
          <a:blip r:embed="rId3">
            <a:alphaModFix/>
          </a:blip>
          <a:srcRect t="129" b="129"/>
          <a:stretch/>
        </p:blipFill>
        <p:spPr>
          <a:xfrm rot="-5400000">
            <a:off x="-145124" y="3582752"/>
            <a:ext cx="1716695" cy="1307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06088" y="-13650"/>
            <a:ext cx="1251550" cy="125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3" name="Google Shape;283;p28"/>
          <p:cNvGrpSpPr/>
          <p:nvPr/>
        </p:nvGrpSpPr>
        <p:grpSpPr>
          <a:xfrm>
            <a:off x="0" y="-13638"/>
            <a:ext cx="8878852" cy="4923618"/>
            <a:chOff x="0" y="-13638"/>
            <a:chExt cx="8878852" cy="4923618"/>
          </a:xfrm>
        </p:grpSpPr>
        <p:pic>
          <p:nvPicPr>
            <p:cNvPr id="284" name="Google Shape;284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7293388" y="484098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85" name="Google Shape;285;p28"/>
            <p:cNvGrpSpPr/>
            <p:nvPr/>
          </p:nvGrpSpPr>
          <p:grpSpPr>
            <a:xfrm>
              <a:off x="0" y="-13638"/>
              <a:ext cx="6523526" cy="536050"/>
              <a:chOff x="0" y="-13638"/>
              <a:chExt cx="6523526" cy="536050"/>
            </a:xfrm>
          </p:grpSpPr>
          <p:pic>
            <p:nvPicPr>
              <p:cNvPr id="286" name="Google Shape;286;p28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0" y="-13638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7" name="Google Shape;287;p28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65125" y="232968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9"/>
          <p:cNvPicPr preferRelativeResize="0"/>
          <p:nvPr/>
        </p:nvPicPr>
        <p:blipFill rotWithShape="1">
          <a:blip r:embed="rId3">
            <a:alphaModFix/>
          </a:blip>
          <a:srcRect l="73637" t="129" b="129"/>
          <a:stretch/>
        </p:blipFill>
        <p:spPr>
          <a:xfrm>
            <a:off x="8632789" y="38875"/>
            <a:ext cx="452574" cy="13079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1" name="Google Shape;291;p29"/>
          <p:cNvGrpSpPr/>
          <p:nvPr/>
        </p:nvGrpSpPr>
        <p:grpSpPr>
          <a:xfrm>
            <a:off x="-26" y="-20456"/>
            <a:ext cx="972776" cy="5162894"/>
            <a:chOff x="-26" y="-20456"/>
            <a:chExt cx="972776" cy="5162894"/>
          </a:xfrm>
        </p:grpSpPr>
        <p:pic>
          <p:nvPicPr>
            <p:cNvPr id="292" name="Google Shape;29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-25" y="-20456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3" name="Google Shape;293;p2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5400000" flipH="1">
              <a:off x="-26" y="416966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4" name="Google Shape;294;p29"/>
          <p:cNvGrpSpPr/>
          <p:nvPr/>
        </p:nvGrpSpPr>
        <p:grpSpPr>
          <a:xfrm rot="10800000">
            <a:off x="5368113" y="4784100"/>
            <a:ext cx="3789523" cy="359400"/>
            <a:chOff x="-13638" y="0"/>
            <a:chExt cx="3789523" cy="359400"/>
          </a:xfrm>
        </p:grpSpPr>
        <p:pic>
          <p:nvPicPr>
            <p:cNvPr id="295" name="Google Shape;295;p2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-13638" y="0"/>
              <a:ext cx="3789523" cy="3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6" name="Google Shape;296;p2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65125" y="1452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8" r:id="rId8"/>
    <p:sldLayoutId id="2147483659" r:id="rId9"/>
    <p:sldLayoutId id="2147483663" r:id="rId10"/>
    <p:sldLayoutId id="2147483664" r:id="rId11"/>
    <p:sldLayoutId id="2147483665" r:id="rId12"/>
    <p:sldLayoutId id="2147483674" r:id="rId13"/>
    <p:sldLayoutId id="2147483675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7BC5794E-D512-7404-6091-AF8CA43EF6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2138"/>
            <a:ext cx="8153400" cy="8588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defRPr/>
            </a:pPr>
            <a:r>
              <a:rPr lang="en-US" altLang="en-US" sz="2400" b="1" dirty="0">
                <a:solidFill>
                  <a:srgbClr val="0070C0"/>
                </a:solidFill>
                <a:latin typeface="+mj-lt"/>
              </a:rPr>
              <a:t>DAYANANDA SAGAR UNIVERSITY</a:t>
            </a:r>
          </a:p>
          <a:p>
            <a:pPr algn="ctr" eaLnBrk="1" hangingPunct="1">
              <a:spcAft>
                <a:spcPts val="600"/>
              </a:spcAft>
              <a:defRPr/>
            </a:pPr>
            <a:r>
              <a:rPr lang="en-IN" sz="2000" b="1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SCHOOL OF ENGINEERING</a:t>
            </a:r>
            <a:endParaRPr lang="en-US" altLang="en-US" dirty="0">
              <a:solidFill>
                <a:schemeClr val="accent2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4B0994C9-9BA3-0431-76E9-10280F8866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8579" y="18749"/>
            <a:ext cx="903890" cy="921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1">
            <a:extLst>
              <a:ext uri="{FF2B5EF4-FFF2-40B4-BE49-F238E27FC236}">
                <a16:creationId xmlns:a16="http://schemas.microsoft.com/office/drawing/2014/main" id="{095A062C-45B7-E815-494C-58247B33B9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"/>
            <a:ext cx="2368789" cy="803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65A5538E-4181-DE54-3E04-5B9F93445C9F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2861529"/>
            <a:ext cx="7772400" cy="731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SHIPPING ROUTE EFFICIENCY ANALYSIS FOR THE LOGISTICS SECTOR</a:t>
            </a:r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12FDDACB-683A-3CA3-07AE-EDDF80754A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2444" y="3672906"/>
            <a:ext cx="39624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IN" altLang="en-US" sz="1600" b="1" dirty="0">
                <a:solidFill>
                  <a:schemeClr val="tx1"/>
                </a:solidFill>
                <a:latin typeface="+mj-lt"/>
              </a:rPr>
              <a:t>Presented By: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IN" altLang="en-US" sz="1600" b="1" dirty="0">
                <a:solidFill>
                  <a:schemeClr val="tx1"/>
                </a:solidFill>
                <a:latin typeface="+mj-lt"/>
              </a:rPr>
              <a:t>Rahul V(ENG22AM0189)</a:t>
            </a: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62AEB191-9F87-868D-6B8F-E2BEFDFB67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050" y="2140863"/>
            <a:ext cx="563989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IN" altLang="en-US" sz="2200" b="1" dirty="0">
                <a:solidFill>
                  <a:schemeClr val="tx2">
                    <a:lumMod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INTERNSHIP REVIEW 1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6B1C6126-2021-6A5B-E207-1F059976CC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697" y="882794"/>
            <a:ext cx="8618482" cy="42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669925" indent="-325438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022350" indent="-350838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339850" indent="-315913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1681163" indent="-339725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138363" indent="-339725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595563" indent="-339725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052763" indent="-339725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509963" indent="-339725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SzPct val="65000"/>
              <a:buFont typeface="Wingdings" panose="05000000000000000000" pitchFamily="2" charset="2"/>
              <a:buNone/>
            </a:pPr>
            <a:r>
              <a:rPr lang="en-US" altLang="en-US" sz="2400" b="1" dirty="0">
                <a:solidFill>
                  <a:srgbClr val="0D0D4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Department of </a:t>
            </a:r>
            <a:r>
              <a:rPr lang="en-IN" altLang="en-US" sz="2400" b="1" dirty="0">
                <a:solidFill>
                  <a:srgbClr val="0D0D4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Computer Science and Engineering </a:t>
            </a:r>
          </a:p>
          <a:p>
            <a:pPr algn="ctr" eaLnBrk="1" hangingPunct="1">
              <a:spcBef>
                <a:spcPct val="20000"/>
              </a:spcBef>
              <a:buSzPct val="65000"/>
              <a:buFont typeface="Wingdings" panose="05000000000000000000" pitchFamily="2" charset="2"/>
              <a:buNone/>
            </a:pPr>
            <a:r>
              <a:rPr lang="en-IN" altLang="en-US" sz="2400" b="1" dirty="0">
                <a:solidFill>
                  <a:srgbClr val="0D0D4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(Artificial Intelligence &amp; Machine Learning)</a:t>
            </a:r>
            <a:endParaRPr lang="en-US" altLang="en-US" sz="2400" b="1" dirty="0">
              <a:solidFill>
                <a:srgbClr val="0D0D4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40401FB0-B451-418D-C5C0-22BAA6C61A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504" y="3672905"/>
            <a:ext cx="3738563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IN" altLang="en-US" sz="1600" b="1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Under the Supervision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IN" altLang="en-US" sz="1600" b="1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Ms. </a:t>
            </a:r>
            <a:r>
              <a:rPr lang="en-IN" altLang="en-US" sz="1600" b="1" dirty="0" err="1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Dhrishti</a:t>
            </a:r>
            <a:r>
              <a:rPr lang="en-IN" altLang="en-US" sz="1600" b="1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 Madaan</a:t>
            </a:r>
          </a:p>
          <a:p>
            <a:pPr algn="ctr">
              <a:spcBef>
                <a:spcPct val="0"/>
              </a:spcBef>
              <a:buClrTx/>
              <a:buNone/>
            </a:pPr>
            <a:r>
              <a:rPr lang="en-IN" altLang="en-US" sz="1600" b="1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Dr. Joshuva </a:t>
            </a:r>
            <a:r>
              <a:rPr lang="en-IN" altLang="en-US" sz="1600" b="1" dirty="0" err="1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Arockia</a:t>
            </a:r>
            <a:r>
              <a:rPr lang="en-IN" altLang="en-US" sz="1600" b="1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 Dhanraj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IN" altLang="en-US" sz="1600" b="1" dirty="0">
              <a:solidFill>
                <a:schemeClr val="tx1"/>
              </a:solidFill>
              <a:latin typeface="+mn-lt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478395E-6C06-F948-4B4C-46ABC9C34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6512" y="0"/>
            <a:ext cx="489097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67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323" name="Google Shape;323;p35"/>
          <p:cNvSpPr txBox="1">
            <a:spLocks noGrp="1"/>
          </p:cNvSpPr>
          <p:nvPr>
            <p:ph type="title" idx="2"/>
          </p:nvPr>
        </p:nvSpPr>
        <p:spPr>
          <a:xfrm>
            <a:off x="3759205" y="1699096"/>
            <a:ext cx="6948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24" name="Google Shape;324;p35"/>
          <p:cNvSpPr txBox="1">
            <a:spLocks noGrp="1"/>
          </p:cNvSpPr>
          <p:nvPr>
            <p:ph type="title" idx="3"/>
          </p:nvPr>
        </p:nvSpPr>
        <p:spPr>
          <a:xfrm>
            <a:off x="4690005" y="1699096"/>
            <a:ext cx="6948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25" name="Google Shape;325;p35"/>
          <p:cNvSpPr txBox="1">
            <a:spLocks noGrp="1"/>
          </p:cNvSpPr>
          <p:nvPr>
            <p:ph type="title" idx="4"/>
          </p:nvPr>
        </p:nvSpPr>
        <p:spPr>
          <a:xfrm>
            <a:off x="3759193" y="2781754"/>
            <a:ext cx="6948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26" name="Google Shape;326;p35"/>
          <p:cNvSpPr txBox="1">
            <a:spLocks noGrp="1"/>
          </p:cNvSpPr>
          <p:nvPr>
            <p:ph type="title" idx="5"/>
          </p:nvPr>
        </p:nvSpPr>
        <p:spPr>
          <a:xfrm>
            <a:off x="4689993" y="2781754"/>
            <a:ext cx="6948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327" name="Google Shape;327;p35"/>
          <p:cNvSpPr txBox="1">
            <a:spLocks noGrp="1"/>
          </p:cNvSpPr>
          <p:nvPr>
            <p:ph type="title" idx="6"/>
          </p:nvPr>
        </p:nvSpPr>
        <p:spPr>
          <a:xfrm>
            <a:off x="3759207" y="3864413"/>
            <a:ext cx="6948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28" name="Google Shape;328;p35"/>
          <p:cNvSpPr txBox="1">
            <a:spLocks noGrp="1"/>
          </p:cNvSpPr>
          <p:nvPr>
            <p:ph type="title" idx="7"/>
          </p:nvPr>
        </p:nvSpPr>
        <p:spPr>
          <a:xfrm>
            <a:off x="4690007" y="3864413"/>
            <a:ext cx="6948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329" name="Google Shape;329;p35"/>
          <p:cNvSpPr txBox="1">
            <a:spLocks noGrp="1"/>
          </p:cNvSpPr>
          <p:nvPr>
            <p:ph type="subTitle" idx="1"/>
          </p:nvPr>
        </p:nvSpPr>
        <p:spPr>
          <a:xfrm>
            <a:off x="633984" y="1699100"/>
            <a:ext cx="2934716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Internship Overview</a:t>
            </a:r>
            <a:endParaRPr dirty="0"/>
          </a:p>
        </p:txBody>
      </p:sp>
      <p:sp>
        <p:nvSpPr>
          <p:cNvPr id="330" name="Google Shape;330;p35"/>
          <p:cNvSpPr txBox="1">
            <a:spLocks noGrp="1"/>
          </p:cNvSpPr>
          <p:nvPr>
            <p:ph type="subTitle" idx="8"/>
          </p:nvPr>
        </p:nvSpPr>
        <p:spPr>
          <a:xfrm>
            <a:off x="1280600" y="2781762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331" name="Google Shape;331;p35"/>
          <p:cNvSpPr txBox="1">
            <a:spLocks noGrp="1"/>
          </p:cNvSpPr>
          <p:nvPr>
            <p:ph type="subTitle" idx="9"/>
          </p:nvPr>
        </p:nvSpPr>
        <p:spPr>
          <a:xfrm>
            <a:off x="1194171" y="3888346"/>
            <a:ext cx="2447036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Problem Definition</a:t>
            </a:r>
          </a:p>
        </p:txBody>
      </p:sp>
      <p:sp>
        <p:nvSpPr>
          <p:cNvPr id="332" name="Google Shape;332;p35"/>
          <p:cNvSpPr txBox="1">
            <a:spLocks noGrp="1"/>
          </p:cNvSpPr>
          <p:nvPr>
            <p:ph type="subTitle" idx="13"/>
          </p:nvPr>
        </p:nvSpPr>
        <p:spPr>
          <a:xfrm>
            <a:off x="5575300" y="1699096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Methodology</a:t>
            </a:r>
            <a:endParaRPr dirty="0"/>
          </a:p>
        </p:txBody>
      </p:sp>
      <p:sp>
        <p:nvSpPr>
          <p:cNvPr id="333" name="Google Shape;333;p35"/>
          <p:cNvSpPr txBox="1">
            <a:spLocks noGrp="1"/>
          </p:cNvSpPr>
          <p:nvPr>
            <p:ph type="subTitle" idx="14"/>
          </p:nvPr>
        </p:nvSpPr>
        <p:spPr>
          <a:xfrm>
            <a:off x="5575300" y="2781754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Experimentation</a:t>
            </a:r>
          </a:p>
        </p:txBody>
      </p:sp>
      <p:sp>
        <p:nvSpPr>
          <p:cNvPr id="334" name="Google Shape;334;p35"/>
          <p:cNvSpPr txBox="1">
            <a:spLocks noGrp="1"/>
          </p:cNvSpPr>
          <p:nvPr>
            <p:ph type="subTitle" idx="15"/>
          </p:nvPr>
        </p:nvSpPr>
        <p:spPr>
          <a:xfrm>
            <a:off x="5575300" y="3864413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Results</a:t>
            </a:r>
            <a:endParaRPr dirty="0"/>
          </a:p>
        </p:txBody>
      </p:sp>
      <p:pic>
        <p:nvPicPr>
          <p:cNvPr id="335" name="Google Shape;33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559213"/>
            <a:ext cx="1768000" cy="13505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9491FCF3-0FD1-AEB6-EBEB-302BA081441E}"/>
              </a:ext>
            </a:extLst>
          </p:cNvPr>
          <p:cNvSpPr txBox="1">
            <a:spLocks/>
          </p:cNvSpPr>
          <p:nvPr/>
        </p:nvSpPr>
        <p:spPr>
          <a:xfrm>
            <a:off x="2987621" y="4831791"/>
            <a:ext cx="3168758" cy="23056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/>
            </a:pPr>
            <a:r>
              <a:rPr lang="it-IT" altLang="en-US" sz="900" dirty="0">
                <a:solidFill>
                  <a:schemeClr val="accent1"/>
                </a:solidFill>
              </a:rPr>
              <a:t>Dept of CSE (AI &amp; ML), SOE-Dayananda Sagar University</a:t>
            </a:r>
            <a:endParaRPr lang="en-US" altLang="en-US" sz="9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6"/>
          <p:cNvSpPr txBox="1">
            <a:spLocks noGrp="1"/>
          </p:cNvSpPr>
          <p:nvPr>
            <p:ph type="title"/>
          </p:nvPr>
        </p:nvSpPr>
        <p:spPr>
          <a:xfrm>
            <a:off x="1798238" y="809065"/>
            <a:ext cx="5547524" cy="61605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INTERNSHIP OVERVIEW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D541824-132F-23FD-9C6C-9111A63BDD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4733700"/>
              </p:ext>
            </p:extLst>
          </p:nvPr>
        </p:nvGraphicFramePr>
        <p:xfrm>
          <a:off x="1205103" y="1686141"/>
          <a:ext cx="6733794" cy="288462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366897">
                  <a:extLst>
                    <a:ext uri="{9D8B030D-6E8A-4147-A177-3AD203B41FA5}">
                      <a16:colId xmlns:a16="http://schemas.microsoft.com/office/drawing/2014/main" val="1514227723"/>
                    </a:ext>
                  </a:extLst>
                </a:gridCol>
                <a:gridCol w="3366897">
                  <a:extLst>
                    <a:ext uri="{9D8B030D-6E8A-4147-A177-3AD203B41FA5}">
                      <a16:colId xmlns:a16="http://schemas.microsoft.com/office/drawing/2014/main" val="2050817573"/>
                    </a:ext>
                  </a:extLst>
                </a:gridCol>
              </a:tblGrid>
              <a:tr h="45171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COMPANY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Unified Mentor </a:t>
                      </a:r>
                      <a:r>
                        <a:rPr lang="en-IN" dirty="0" err="1"/>
                        <a:t>Pvt.</a:t>
                      </a:r>
                      <a:r>
                        <a:rPr lang="en-IN" dirty="0"/>
                        <a:t> Ltd.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187748"/>
                  </a:ext>
                </a:extLst>
              </a:tr>
              <a:tr h="45171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25th March 2026 – 25th June 2026 (3 Months)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257973"/>
                  </a:ext>
                </a:extLst>
              </a:tr>
              <a:tr h="45171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PROJECT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Shipping Route Efficiency Analysis for the Logistics Sector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872561"/>
                  </a:ext>
                </a:extLst>
              </a:tr>
              <a:tr h="45171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TECH 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 Python 3.14 · </a:t>
                      </a:r>
                      <a:r>
                        <a:rPr lang="en-IN" dirty="0" err="1"/>
                        <a:t>Streamlit</a:t>
                      </a:r>
                      <a:r>
                        <a:rPr lang="en-IN" dirty="0"/>
                        <a:t> 1.56 · Pandas 3.0.2 · Plotly 6.6.0 · NumPy 2.4.4 · </a:t>
                      </a:r>
                      <a:r>
                        <a:rPr lang="en-IN" dirty="0" err="1"/>
                        <a:t>pandera</a:t>
                      </a:r>
                      <a:r>
                        <a:rPr lang="en-IN" dirty="0"/>
                        <a:t> 0.30.1 ·</a:t>
                      </a:r>
                    </a:p>
                    <a:p>
                      <a:pPr algn="ctr"/>
                      <a:r>
                        <a:rPr lang="en-IN" dirty="0"/>
                        <a:t>  </a:t>
                      </a:r>
                      <a:r>
                        <a:rPr lang="en-IN" dirty="0" err="1"/>
                        <a:t>PyYAML</a:t>
                      </a:r>
                      <a:r>
                        <a:rPr lang="en-IN" dirty="0"/>
                        <a:t> 6.0.3 · </a:t>
                      </a:r>
                      <a:r>
                        <a:rPr lang="en-IN" dirty="0" err="1"/>
                        <a:t>pytest</a:t>
                      </a:r>
                      <a:r>
                        <a:rPr lang="en-IN" dirty="0"/>
                        <a:t> 9.0.2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12190"/>
                  </a:ext>
                </a:extLst>
              </a:tr>
              <a:tr h="45171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EXTERNAL GUIDE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Ms. </a:t>
                      </a:r>
                      <a:r>
                        <a:rPr lang="en-IN" dirty="0" err="1"/>
                        <a:t>Dhrishti</a:t>
                      </a:r>
                      <a:r>
                        <a:rPr lang="en-IN" dirty="0"/>
                        <a:t> Madaan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165542"/>
                  </a:ext>
                </a:extLst>
              </a:tr>
            </a:tbl>
          </a:graphicData>
        </a:graphic>
      </p:graphicFrame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5604A0A-5069-5218-0EFC-59FFEDD58EE8}"/>
              </a:ext>
            </a:extLst>
          </p:cNvPr>
          <p:cNvSpPr txBox="1">
            <a:spLocks/>
          </p:cNvSpPr>
          <p:nvPr/>
        </p:nvSpPr>
        <p:spPr>
          <a:xfrm>
            <a:off x="2987621" y="4831791"/>
            <a:ext cx="3168758" cy="23056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/>
            </a:pPr>
            <a:r>
              <a:rPr lang="it-IT" altLang="en-US" sz="900" dirty="0">
                <a:solidFill>
                  <a:schemeClr val="accent1"/>
                </a:solidFill>
              </a:rPr>
              <a:t>Dept of CSE (AI &amp; ML), SOE-Dayananda Sagar University</a:t>
            </a:r>
            <a:endParaRPr lang="en-US" altLang="en-US" sz="9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9"/>
          <p:cNvSpPr txBox="1">
            <a:spLocks noGrp="1"/>
          </p:cNvSpPr>
          <p:nvPr>
            <p:ph type="title"/>
          </p:nvPr>
        </p:nvSpPr>
        <p:spPr>
          <a:xfrm>
            <a:off x="2895936" y="453019"/>
            <a:ext cx="3352128" cy="6075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ECC9DC83-E6AD-8319-9AF8-DA85794AD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815" y="1137684"/>
            <a:ext cx="8783491" cy="2532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6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spcBef>
                <a:spcPct val="0"/>
              </a:spcBef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Data Transformation: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Converted raw multi-factory shipping records into actionable intelligence using a production-grade Python architecture.</a:t>
            </a:r>
          </a:p>
          <a:p>
            <a:pPr marL="0" lvl="0" indent="0" defTabSz="914400">
              <a:spcBef>
                <a:spcPct val="0"/>
              </a:spcBef>
              <a:buClrTx/>
              <a:buFontTx/>
              <a:buChar char="•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>
              <a:spcBef>
                <a:spcPct val="0"/>
              </a:spcBef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Signal Extraction: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Developed a custom cohort-based normalization algorithm to isolate genuine 0–11 day lead time signals from noisy, high-baseline datasets.</a:t>
            </a:r>
          </a:p>
          <a:p>
            <a:pPr marL="0" lvl="0" indent="0" defTabSz="914400">
              <a:spcBef>
                <a:spcPct val="0"/>
              </a:spcBef>
              <a:buClrTx/>
              <a:buFontTx/>
              <a:buChar char="•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>
              <a:spcBef>
                <a:spcPct val="0"/>
              </a:spcBef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Efficiency Benchmarking: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Created a 0–100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Route Efficiency Score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to evaluate performance across specific factory-region and shipping mode combinations.</a:t>
            </a:r>
          </a:p>
          <a:p>
            <a:pPr marL="0" lvl="0" indent="0" defTabSz="914400">
              <a:spcBef>
                <a:spcPct val="0"/>
              </a:spcBef>
              <a:buClrTx/>
              <a:buFontTx/>
              <a:buChar char="•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>
              <a:spcBef>
                <a:spcPct val="0"/>
              </a:spcBef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Quality &amp; Validation: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Utilized </a:t>
            </a:r>
            <a:r>
              <a:rPr lang="en-US" altLang="en-US" sz="1800" b="1" dirty="0" err="1">
                <a:solidFill>
                  <a:schemeClr val="tx1"/>
                </a:solidFill>
                <a:latin typeface="Arial" panose="020B0604020202020204" pitchFamily="34" charset="0"/>
              </a:rPr>
              <a:t>pandera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for rigorous schema validation and Pandas/NumPy for robust statistical processing of complex distribution networks.</a:t>
            </a:r>
          </a:p>
          <a:p>
            <a:pPr marL="0" lvl="0" indent="0" defTabSz="914400">
              <a:spcBef>
                <a:spcPct val="0"/>
              </a:spcBef>
              <a:buClrTx/>
              <a:buFontTx/>
              <a:buChar char="•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>
              <a:spcBef>
                <a:spcPct val="0"/>
              </a:spcBef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Interactive Visualization: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Deployed a </a:t>
            </a:r>
            <a:r>
              <a:rPr lang="en-US" altLang="en-US" sz="1800" b="1" dirty="0" err="1">
                <a:solidFill>
                  <a:schemeClr val="tx1"/>
                </a:solidFill>
                <a:latin typeface="Arial" panose="020B0604020202020204" pitchFamily="34" charset="0"/>
              </a:rPr>
              <a:t>Streamlit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dashboard featuring 10 distinct Plotly chart types to provide stakeholders with real-time operational insights.</a:t>
            </a:r>
          </a:p>
          <a:p>
            <a:pPr eaLnBrk="1" hangingPunct="1"/>
            <a:endParaRPr lang="en-IN" alt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8"/>
          <p:cNvSpPr/>
          <p:nvPr/>
        </p:nvSpPr>
        <p:spPr>
          <a:xfrm>
            <a:off x="803400" y="1649136"/>
            <a:ext cx="903900" cy="903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6" name="Google Shape;356;p38"/>
          <p:cNvSpPr/>
          <p:nvPr/>
        </p:nvSpPr>
        <p:spPr>
          <a:xfrm>
            <a:off x="803402" y="3054549"/>
            <a:ext cx="903900" cy="903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7" name="Google Shape;357;p38"/>
          <p:cNvSpPr txBox="1">
            <a:spLocks noGrp="1"/>
          </p:cNvSpPr>
          <p:nvPr>
            <p:ph type="subTitle" idx="4"/>
          </p:nvPr>
        </p:nvSpPr>
        <p:spPr>
          <a:xfrm>
            <a:off x="1859700" y="3054549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Solution</a:t>
            </a:r>
            <a:endParaRPr dirty="0"/>
          </a:p>
        </p:txBody>
      </p:sp>
      <p:sp>
        <p:nvSpPr>
          <p:cNvPr id="358" name="Google Shape;358;p38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PROBLEM DEFINITION</a:t>
            </a:r>
            <a:br>
              <a:rPr lang="en-IN" dirty="0"/>
            </a:br>
            <a:endParaRPr dirty="0"/>
          </a:p>
        </p:txBody>
      </p:sp>
      <p:sp>
        <p:nvSpPr>
          <p:cNvPr id="359" name="Google Shape;359;p38"/>
          <p:cNvSpPr txBox="1">
            <a:spLocks noGrp="1"/>
          </p:cNvSpPr>
          <p:nvPr>
            <p:ph type="subTitle" idx="1"/>
          </p:nvPr>
        </p:nvSpPr>
        <p:spPr>
          <a:xfrm>
            <a:off x="3553500" y="3254100"/>
            <a:ext cx="47871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Engineered an end-to-end analytics platform that computes a </a:t>
            </a:r>
            <a:r>
              <a:rPr lang="en-US" b="1" dirty="0"/>
              <a:t>0–100 Efficiency Score</a:t>
            </a:r>
            <a:r>
              <a:rPr lang="en-US" dirty="0"/>
              <a:t> for every route via min-max normalized lead times while tracking seven critical KPIs, including profitability and delay frequency. The solution features an interactive </a:t>
            </a:r>
            <a:r>
              <a:rPr lang="en-US" b="1" dirty="0"/>
              <a:t>US choropleth map</a:t>
            </a:r>
            <a:r>
              <a:rPr lang="en-US" dirty="0"/>
              <a:t> with factory overlays and a self-service filtering suite, allowing users to transition from high-level geographic trends to granular, order-level </a:t>
            </a:r>
            <a:r>
              <a:rPr lang="en-US" b="1" dirty="0"/>
              <a:t>Gantt timelines</a:t>
            </a:r>
            <a:r>
              <a:rPr lang="en-US" dirty="0"/>
              <a:t> for comprehensive route drill-downs.</a:t>
            </a:r>
            <a:endParaRPr dirty="0"/>
          </a:p>
        </p:txBody>
      </p:sp>
      <p:sp>
        <p:nvSpPr>
          <p:cNvPr id="360" name="Google Shape;360;p38"/>
          <p:cNvSpPr txBox="1">
            <a:spLocks noGrp="1"/>
          </p:cNvSpPr>
          <p:nvPr>
            <p:ph type="subTitle" idx="2"/>
          </p:nvPr>
        </p:nvSpPr>
        <p:spPr>
          <a:xfrm>
            <a:off x="3553500" y="1649136"/>
            <a:ext cx="47871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The distribution sector client lacked quantitative visibility into their complex multi-factory network, forcing critical decisions on shipping modes and factory allocations to be made without data-driven insights. Because raw transactional data remained untapped, the business could not track SLA compliance or identify geographic performance trends, leaving regional lead-time patterns and route inefficiencies entirely invisible to stakeholders.</a:t>
            </a:r>
            <a:endParaRPr dirty="0"/>
          </a:p>
        </p:txBody>
      </p:sp>
      <p:sp>
        <p:nvSpPr>
          <p:cNvPr id="361" name="Google Shape;361;p38"/>
          <p:cNvSpPr txBox="1">
            <a:spLocks noGrp="1"/>
          </p:cNvSpPr>
          <p:nvPr>
            <p:ph type="subTitle" idx="3"/>
          </p:nvPr>
        </p:nvSpPr>
        <p:spPr>
          <a:xfrm>
            <a:off x="1859700" y="1649136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</a:t>
            </a:r>
            <a:endParaRPr dirty="0"/>
          </a:p>
        </p:txBody>
      </p:sp>
      <p:grpSp>
        <p:nvGrpSpPr>
          <p:cNvPr id="362" name="Google Shape;362;p38"/>
          <p:cNvGrpSpPr/>
          <p:nvPr/>
        </p:nvGrpSpPr>
        <p:grpSpPr>
          <a:xfrm>
            <a:off x="1044915" y="1890632"/>
            <a:ext cx="420881" cy="420913"/>
            <a:chOff x="4792819" y="2090612"/>
            <a:chExt cx="376762" cy="376791"/>
          </a:xfrm>
        </p:grpSpPr>
        <p:sp>
          <p:nvSpPr>
            <p:cNvPr id="363" name="Google Shape;363;p38"/>
            <p:cNvSpPr/>
            <p:nvPr/>
          </p:nvSpPr>
          <p:spPr>
            <a:xfrm>
              <a:off x="4992193" y="2179659"/>
              <a:ext cx="66298" cy="66270"/>
            </a:xfrm>
            <a:custGeom>
              <a:avLst/>
              <a:gdLst/>
              <a:ahLst/>
              <a:cxnLst/>
              <a:rect l="l" t="t" r="r" b="b"/>
              <a:pathLst>
                <a:path w="2346" h="2345" extrusionOk="0">
                  <a:moveTo>
                    <a:pt x="1173" y="781"/>
                  </a:moveTo>
                  <a:cubicBezTo>
                    <a:pt x="1389" y="781"/>
                    <a:pt x="1564" y="956"/>
                    <a:pt x="1564" y="1172"/>
                  </a:cubicBezTo>
                  <a:cubicBezTo>
                    <a:pt x="1564" y="1388"/>
                    <a:pt x="1389" y="1563"/>
                    <a:pt x="1173" y="1563"/>
                  </a:cubicBezTo>
                  <a:cubicBezTo>
                    <a:pt x="957" y="1563"/>
                    <a:pt x="782" y="1388"/>
                    <a:pt x="782" y="1172"/>
                  </a:cubicBezTo>
                  <a:cubicBezTo>
                    <a:pt x="782" y="956"/>
                    <a:pt x="957" y="781"/>
                    <a:pt x="1173" y="781"/>
                  </a:cubicBezTo>
                  <a:close/>
                  <a:moveTo>
                    <a:pt x="1173" y="1"/>
                  </a:moveTo>
                  <a:cubicBezTo>
                    <a:pt x="527" y="1"/>
                    <a:pt x="1" y="526"/>
                    <a:pt x="1" y="1172"/>
                  </a:cubicBezTo>
                  <a:cubicBezTo>
                    <a:pt x="1" y="1818"/>
                    <a:pt x="527" y="2344"/>
                    <a:pt x="1173" y="2344"/>
                  </a:cubicBezTo>
                  <a:cubicBezTo>
                    <a:pt x="1819" y="2344"/>
                    <a:pt x="2345" y="1818"/>
                    <a:pt x="2345" y="1172"/>
                  </a:cubicBezTo>
                  <a:cubicBezTo>
                    <a:pt x="2345" y="526"/>
                    <a:pt x="1819" y="1"/>
                    <a:pt x="1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8"/>
            <p:cNvSpPr/>
            <p:nvPr/>
          </p:nvSpPr>
          <p:spPr>
            <a:xfrm>
              <a:off x="4859767" y="2378327"/>
              <a:ext cx="22099" cy="22099"/>
            </a:xfrm>
            <a:custGeom>
              <a:avLst/>
              <a:gdLst/>
              <a:ahLst/>
              <a:cxnLst/>
              <a:rect l="l" t="t" r="r" b="b"/>
              <a:pathLst>
                <a:path w="782" h="782" extrusionOk="0">
                  <a:moveTo>
                    <a:pt x="391" y="0"/>
                  </a:moveTo>
                  <a:cubicBezTo>
                    <a:pt x="175" y="0"/>
                    <a:pt x="0" y="175"/>
                    <a:pt x="0" y="391"/>
                  </a:cubicBezTo>
                  <a:cubicBezTo>
                    <a:pt x="0" y="607"/>
                    <a:pt x="175" y="782"/>
                    <a:pt x="391" y="782"/>
                  </a:cubicBezTo>
                  <a:cubicBezTo>
                    <a:pt x="607" y="782"/>
                    <a:pt x="782" y="607"/>
                    <a:pt x="782" y="391"/>
                  </a:cubicBezTo>
                  <a:cubicBezTo>
                    <a:pt x="782" y="175"/>
                    <a:pt x="607" y="0"/>
                    <a:pt x="3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8"/>
            <p:cNvSpPr/>
            <p:nvPr/>
          </p:nvSpPr>
          <p:spPr>
            <a:xfrm>
              <a:off x="4792819" y="2090612"/>
              <a:ext cx="376762" cy="376791"/>
            </a:xfrm>
            <a:custGeom>
              <a:avLst/>
              <a:gdLst/>
              <a:ahLst/>
              <a:cxnLst/>
              <a:rect l="l" t="t" r="r" b="b"/>
              <a:pathLst>
                <a:path w="13332" h="13333" extrusionOk="0">
                  <a:moveTo>
                    <a:pt x="8229" y="1589"/>
                  </a:moveTo>
                  <a:cubicBezTo>
                    <a:pt x="8444" y="1589"/>
                    <a:pt x="8619" y="1764"/>
                    <a:pt x="8619" y="1980"/>
                  </a:cubicBezTo>
                  <a:lnTo>
                    <a:pt x="8619" y="2410"/>
                  </a:lnTo>
                  <a:cubicBezTo>
                    <a:pt x="8867" y="2461"/>
                    <a:pt x="9099" y="2560"/>
                    <a:pt x="9303" y="2696"/>
                  </a:cubicBezTo>
                  <a:lnTo>
                    <a:pt x="9602" y="2398"/>
                  </a:lnTo>
                  <a:cubicBezTo>
                    <a:pt x="9680" y="2319"/>
                    <a:pt x="9785" y="2277"/>
                    <a:pt x="9890" y="2277"/>
                  </a:cubicBezTo>
                  <a:cubicBezTo>
                    <a:pt x="9974" y="2277"/>
                    <a:pt x="10058" y="2304"/>
                    <a:pt x="10128" y="2360"/>
                  </a:cubicBezTo>
                  <a:cubicBezTo>
                    <a:pt x="10313" y="2509"/>
                    <a:pt x="10323" y="2780"/>
                    <a:pt x="10162" y="2942"/>
                  </a:cubicBezTo>
                  <a:lnTo>
                    <a:pt x="9855" y="3248"/>
                  </a:lnTo>
                  <a:cubicBezTo>
                    <a:pt x="9991" y="3452"/>
                    <a:pt x="10090" y="3684"/>
                    <a:pt x="10141" y="3932"/>
                  </a:cubicBezTo>
                  <a:lnTo>
                    <a:pt x="10561" y="3932"/>
                  </a:lnTo>
                  <a:cubicBezTo>
                    <a:pt x="10762" y="3932"/>
                    <a:pt x="10939" y="4079"/>
                    <a:pt x="10959" y="4279"/>
                  </a:cubicBezTo>
                  <a:cubicBezTo>
                    <a:pt x="10985" y="4515"/>
                    <a:pt x="10802" y="4714"/>
                    <a:pt x="10571" y="4714"/>
                  </a:cubicBezTo>
                  <a:lnTo>
                    <a:pt x="10141" y="4714"/>
                  </a:lnTo>
                  <a:cubicBezTo>
                    <a:pt x="10090" y="4963"/>
                    <a:pt x="9991" y="5193"/>
                    <a:pt x="9855" y="5399"/>
                  </a:cubicBezTo>
                  <a:lnTo>
                    <a:pt x="10154" y="5696"/>
                  </a:lnTo>
                  <a:cubicBezTo>
                    <a:pt x="10296" y="5839"/>
                    <a:pt x="10316" y="6067"/>
                    <a:pt x="10191" y="6223"/>
                  </a:cubicBezTo>
                  <a:cubicBezTo>
                    <a:pt x="10112" y="6321"/>
                    <a:pt x="9998" y="6371"/>
                    <a:pt x="9885" y="6371"/>
                  </a:cubicBezTo>
                  <a:cubicBezTo>
                    <a:pt x="9785" y="6371"/>
                    <a:pt x="9685" y="6333"/>
                    <a:pt x="9609" y="6256"/>
                  </a:cubicBezTo>
                  <a:lnTo>
                    <a:pt x="9304" y="5951"/>
                  </a:lnTo>
                  <a:cubicBezTo>
                    <a:pt x="9099" y="6087"/>
                    <a:pt x="8868" y="6186"/>
                    <a:pt x="8619" y="6237"/>
                  </a:cubicBezTo>
                  <a:lnTo>
                    <a:pt x="8619" y="6657"/>
                  </a:lnTo>
                  <a:cubicBezTo>
                    <a:pt x="8619" y="6857"/>
                    <a:pt x="8472" y="7033"/>
                    <a:pt x="8272" y="7055"/>
                  </a:cubicBezTo>
                  <a:cubicBezTo>
                    <a:pt x="8258" y="7057"/>
                    <a:pt x="8243" y="7057"/>
                    <a:pt x="8229" y="7057"/>
                  </a:cubicBezTo>
                  <a:cubicBezTo>
                    <a:pt x="8014" y="7057"/>
                    <a:pt x="7837" y="6882"/>
                    <a:pt x="7837" y="6666"/>
                  </a:cubicBezTo>
                  <a:lnTo>
                    <a:pt x="7837" y="6236"/>
                  </a:lnTo>
                  <a:cubicBezTo>
                    <a:pt x="7588" y="6186"/>
                    <a:pt x="7358" y="6087"/>
                    <a:pt x="7153" y="5950"/>
                  </a:cubicBezTo>
                  <a:cubicBezTo>
                    <a:pt x="7093" y="5980"/>
                    <a:pt x="6842" y="6377"/>
                    <a:pt x="6553" y="6377"/>
                  </a:cubicBezTo>
                  <a:cubicBezTo>
                    <a:pt x="6466" y="6377"/>
                    <a:pt x="6376" y="6341"/>
                    <a:pt x="6286" y="6247"/>
                  </a:cubicBezTo>
                  <a:cubicBezTo>
                    <a:pt x="6142" y="6097"/>
                    <a:pt x="6150" y="5848"/>
                    <a:pt x="6298" y="5701"/>
                  </a:cubicBezTo>
                  <a:lnTo>
                    <a:pt x="6601" y="5399"/>
                  </a:lnTo>
                  <a:cubicBezTo>
                    <a:pt x="6465" y="5193"/>
                    <a:pt x="6365" y="4963"/>
                    <a:pt x="6315" y="4714"/>
                  </a:cubicBezTo>
                  <a:lnTo>
                    <a:pt x="5895" y="4714"/>
                  </a:lnTo>
                  <a:cubicBezTo>
                    <a:pt x="5694" y="4714"/>
                    <a:pt x="5517" y="4566"/>
                    <a:pt x="5497" y="4367"/>
                  </a:cubicBezTo>
                  <a:cubicBezTo>
                    <a:pt x="5471" y="4132"/>
                    <a:pt x="5655" y="3933"/>
                    <a:pt x="5885" y="3933"/>
                  </a:cubicBezTo>
                  <a:lnTo>
                    <a:pt x="6315" y="3933"/>
                  </a:lnTo>
                  <a:cubicBezTo>
                    <a:pt x="6366" y="3684"/>
                    <a:pt x="6465" y="3452"/>
                    <a:pt x="6601" y="3248"/>
                  </a:cubicBezTo>
                  <a:lnTo>
                    <a:pt x="6302" y="2949"/>
                  </a:lnTo>
                  <a:cubicBezTo>
                    <a:pt x="6161" y="2808"/>
                    <a:pt x="6140" y="2580"/>
                    <a:pt x="6265" y="2423"/>
                  </a:cubicBezTo>
                  <a:cubicBezTo>
                    <a:pt x="6345" y="2325"/>
                    <a:pt x="6458" y="2276"/>
                    <a:pt x="6571" y="2276"/>
                  </a:cubicBezTo>
                  <a:cubicBezTo>
                    <a:pt x="6671" y="2276"/>
                    <a:pt x="6771" y="2314"/>
                    <a:pt x="6847" y="2391"/>
                  </a:cubicBezTo>
                  <a:lnTo>
                    <a:pt x="7152" y="2696"/>
                  </a:lnTo>
                  <a:cubicBezTo>
                    <a:pt x="7358" y="2560"/>
                    <a:pt x="7588" y="2461"/>
                    <a:pt x="7837" y="2410"/>
                  </a:cubicBezTo>
                  <a:lnTo>
                    <a:pt x="7837" y="1990"/>
                  </a:lnTo>
                  <a:cubicBezTo>
                    <a:pt x="7837" y="1790"/>
                    <a:pt x="7985" y="1614"/>
                    <a:pt x="8184" y="1592"/>
                  </a:cubicBezTo>
                  <a:cubicBezTo>
                    <a:pt x="8199" y="1590"/>
                    <a:pt x="8214" y="1589"/>
                    <a:pt x="8229" y="1589"/>
                  </a:cubicBezTo>
                  <a:close/>
                  <a:moveTo>
                    <a:pt x="2760" y="9401"/>
                  </a:moveTo>
                  <a:cubicBezTo>
                    <a:pt x="3406" y="9401"/>
                    <a:pt x="3933" y="9926"/>
                    <a:pt x="3933" y="10572"/>
                  </a:cubicBezTo>
                  <a:cubicBezTo>
                    <a:pt x="3933" y="11218"/>
                    <a:pt x="3406" y="11744"/>
                    <a:pt x="2760" y="11744"/>
                  </a:cubicBezTo>
                  <a:cubicBezTo>
                    <a:pt x="2114" y="11744"/>
                    <a:pt x="1588" y="11218"/>
                    <a:pt x="1588" y="10572"/>
                  </a:cubicBezTo>
                  <a:cubicBezTo>
                    <a:pt x="1588" y="9926"/>
                    <a:pt x="2114" y="9401"/>
                    <a:pt x="2760" y="9401"/>
                  </a:cubicBezTo>
                  <a:close/>
                  <a:moveTo>
                    <a:pt x="11353" y="10963"/>
                  </a:moveTo>
                  <a:cubicBezTo>
                    <a:pt x="11569" y="10963"/>
                    <a:pt x="11744" y="11138"/>
                    <a:pt x="11744" y="11354"/>
                  </a:cubicBezTo>
                  <a:cubicBezTo>
                    <a:pt x="11744" y="11570"/>
                    <a:pt x="11569" y="11744"/>
                    <a:pt x="11353" y="11744"/>
                  </a:cubicBezTo>
                  <a:cubicBezTo>
                    <a:pt x="11137" y="11744"/>
                    <a:pt x="10962" y="11570"/>
                    <a:pt x="10962" y="11354"/>
                  </a:cubicBezTo>
                  <a:cubicBezTo>
                    <a:pt x="10962" y="11138"/>
                    <a:pt x="11137" y="10963"/>
                    <a:pt x="11353" y="10963"/>
                  </a:cubicBezTo>
                  <a:close/>
                  <a:moveTo>
                    <a:pt x="3950" y="4676"/>
                  </a:moveTo>
                  <a:cubicBezTo>
                    <a:pt x="4129" y="6880"/>
                    <a:pt x="5978" y="8620"/>
                    <a:pt x="8228" y="8620"/>
                  </a:cubicBezTo>
                  <a:cubicBezTo>
                    <a:pt x="9847" y="8620"/>
                    <a:pt x="11258" y="7720"/>
                    <a:pt x="11990" y="6395"/>
                  </a:cubicBezTo>
                  <a:lnTo>
                    <a:pt x="12375" y="9684"/>
                  </a:lnTo>
                  <a:cubicBezTo>
                    <a:pt x="12083" y="9508"/>
                    <a:pt x="11719" y="9401"/>
                    <a:pt x="11353" y="9401"/>
                  </a:cubicBezTo>
                  <a:cubicBezTo>
                    <a:pt x="10277" y="9401"/>
                    <a:pt x="9400" y="10278"/>
                    <a:pt x="9400" y="11354"/>
                  </a:cubicBezTo>
                  <a:cubicBezTo>
                    <a:pt x="9400" y="11796"/>
                    <a:pt x="9552" y="12224"/>
                    <a:pt x="9800" y="12552"/>
                  </a:cubicBezTo>
                  <a:lnTo>
                    <a:pt x="4667" y="12552"/>
                  </a:lnTo>
                  <a:cubicBezTo>
                    <a:pt x="5176" y="12055"/>
                    <a:pt x="5494" y="11338"/>
                    <a:pt x="5494" y="10572"/>
                  </a:cubicBezTo>
                  <a:cubicBezTo>
                    <a:pt x="5494" y="9066"/>
                    <a:pt x="4268" y="7838"/>
                    <a:pt x="2760" y="7838"/>
                  </a:cubicBezTo>
                  <a:cubicBezTo>
                    <a:pt x="2506" y="7838"/>
                    <a:pt x="2266" y="7885"/>
                    <a:pt x="2034" y="7949"/>
                  </a:cubicBezTo>
                  <a:lnTo>
                    <a:pt x="3950" y="4676"/>
                  </a:lnTo>
                  <a:close/>
                  <a:moveTo>
                    <a:pt x="8228" y="1"/>
                  </a:moveTo>
                  <a:cubicBezTo>
                    <a:pt x="6656" y="1"/>
                    <a:pt x="5283" y="877"/>
                    <a:pt x="4533" y="2141"/>
                  </a:cubicBezTo>
                  <a:cubicBezTo>
                    <a:pt x="4490" y="2207"/>
                    <a:pt x="389" y="9153"/>
                    <a:pt x="350" y="9260"/>
                  </a:cubicBezTo>
                  <a:cubicBezTo>
                    <a:pt x="134" y="9652"/>
                    <a:pt x="0" y="10094"/>
                    <a:pt x="0" y="10572"/>
                  </a:cubicBezTo>
                  <a:cubicBezTo>
                    <a:pt x="0" y="12080"/>
                    <a:pt x="1253" y="13332"/>
                    <a:pt x="2760" y="13332"/>
                  </a:cubicBezTo>
                  <a:lnTo>
                    <a:pt x="11353" y="13332"/>
                  </a:lnTo>
                  <a:cubicBezTo>
                    <a:pt x="12430" y="13332"/>
                    <a:pt x="13331" y="12430"/>
                    <a:pt x="13331" y="11354"/>
                  </a:cubicBezTo>
                  <a:cubicBezTo>
                    <a:pt x="13331" y="11194"/>
                    <a:pt x="12508" y="3929"/>
                    <a:pt x="12499" y="3855"/>
                  </a:cubicBezTo>
                  <a:lnTo>
                    <a:pt x="12499" y="3855"/>
                  </a:lnTo>
                  <a:cubicBezTo>
                    <a:pt x="12499" y="3852"/>
                    <a:pt x="12497" y="3850"/>
                    <a:pt x="12496" y="3847"/>
                  </a:cubicBezTo>
                  <a:cubicBezTo>
                    <a:pt x="12258" y="1701"/>
                    <a:pt x="10436" y="1"/>
                    <a:pt x="82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6" name="Google Shape;366;p38"/>
          <p:cNvGrpSpPr/>
          <p:nvPr/>
        </p:nvGrpSpPr>
        <p:grpSpPr>
          <a:xfrm>
            <a:off x="1069253" y="3296046"/>
            <a:ext cx="372328" cy="420913"/>
            <a:chOff x="2353331" y="2090612"/>
            <a:chExt cx="333298" cy="376791"/>
          </a:xfrm>
        </p:grpSpPr>
        <p:sp>
          <p:nvSpPr>
            <p:cNvPr id="367" name="Google Shape;367;p38"/>
            <p:cNvSpPr/>
            <p:nvPr/>
          </p:nvSpPr>
          <p:spPr>
            <a:xfrm>
              <a:off x="2353331" y="2098864"/>
              <a:ext cx="123298" cy="184623"/>
            </a:xfrm>
            <a:custGeom>
              <a:avLst/>
              <a:gdLst/>
              <a:ahLst/>
              <a:cxnLst/>
              <a:rect l="l" t="t" r="r" b="b"/>
              <a:pathLst>
                <a:path w="4363" h="6533" extrusionOk="0">
                  <a:moveTo>
                    <a:pt x="2318" y="1"/>
                  </a:moveTo>
                  <a:lnTo>
                    <a:pt x="153" y="2167"/>
                  </a:lnTo>
                  <a:cubicBezTo>
                    <a:pt x="20" y="2299"/>
                    <a:pt x="0" y="2504"/>
                    <a:pt x="104" y="2660"/>
                  </a:cubicBezTo>
                  <a:lnTo>
                    <a:pt x="2668" y="6533"/>
                  </a:lnTo>
                  <a:cubicBezTo>
                    <a:pt x="2824" y="6339"/>
                    <a:pt x="3037" y="6193"/>
                    <a:pt x="3279" y="6129"/>
                  </a:cubicBezTo>
                  <a:cubicBezTo>
                    <a:pt x="3379" y="6102"/>
                    <a:pt x="3481" y="6089"/>
                    <a:pt x="3582" y="6089"/>
                  </a:cubicBezTo>
                  <a:cubicBezTo>
                    <a:pt x="3712" y="6089"/>
                    <a:pt x="3841" y="6111"/>
                    <a:pt x="3965" y="6154"/>
                  </a:cubicBezTo>
                  <a:cubicBezTo>
                    <a:pt x="4017" y="5884"/>
                    <a:pt x="4161" y="5649"/>
                    <a:pt x="4363" y="5480"/>
                  </a:cubicBezTo>
                  <a:lnTo>
                    <a:pt x="23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8"/>
            <p:cNvSpPr/>
            <p:nvPr/>
          </p:nvSpPr>
          <p:spPr>
            <a:xfrm>
              <a:off x="2563303" y="2098864"/>
              <a:ext cx="123327" cy="184623"/>
            </a:xfrm>
            <a:custGeom>
              <a:avLst/>
              <a:gdLst/>
              <a:ahLst/>
              <a:cxnLst/>
              <a:rect l="l" t="t" r="r" b="b"/>
              <a:pathLst>
                <a:path w="4364" h="6533" extrusionOk="0">
                  <a:moveTo>
                    <a:pt x="2045" y="1"/>
                  </a:moveTo>
                  <a:lnTo>
                    <a:pt x="1" y="5480"/>
                  </a:lnTo>
                  <a:cubicBezTo>
                    <a:pt x="202" y="5649"/>
                    <a:pt x="348" y="5884"/>
                    <a:pt x="399" y="6154"/>
                  </a:cubicBezTo>
                  <a:cubicBezTo>
                    <a:pt x="524" y="6110"/>
                    <a:pt x="655" y="6089"/>
                    <a:pt x="783" y="6089"/>
                  </a:cubicBezTo>
                  <a:cubicBezTo>
                    <a:pt x="885" y="6089"/>
                    <a:pt x="986" y="6102"/>
                    <a:pt x="1082" y="6128"/>
                  </a:cubicBezTo>
                  <a:cubicBezTo>
                    <a:pt x="1326" y="6193"/>
                    <a:pt x="1539" y="6339"/>
                    <a:pt x="1695" y="6533"/>
                  </a:cubicBezTo>
                  <a:lnTo>
                    <a:pt x="4260" y="2659"/>
                  </a:lnTo>
                  <a:cubicBezTo>
                    <a:pt x="4363" y="2504"/>
                    <a:pt x="4343" y="2299"/>
                    <a:pt x="4212" y="2167"/>
                  </a:cubicBezTo>
                  <a:lnTo>
                    <a:pt x="20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8"/>
            <p:cNvSpPr/>
            <p:nvPr/>
          </p:nvSpPr>
          <p:spPr>
            <a:xfrm>
              <a:off x="2439326" y="2090612"/>
              <a:ext cx="161308" cy="66270"/>
            </a:xfrm>
            <a:custGeom>
              <a:avLst/>
              <a:gdLst/>
              <a:ahLst/>
              <a:cxnLst/>
              <a:rect l="l" t="t" r="r" b="b"/>
              <a:pathLst>
                <a:path w="5708" h="2345" extrusionOk="0">
                  <a:moveTo>
                    <a:pt x="0" y="1"/>
                  </a:moveTo>
                  <a:lnTo>
                    <a:pt x="879" y="2344"/>
                  </a:lnTo>
                  <a:lnTo>
                    <a:pt x="4829" y="2344"/>
                  </a:lnTo>
                  <a:lnTo>
                    <a:pt x="570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38"/>
            <p:cNvSpPr/>
            <p:nvPr/>
          </p:nvSpPr>
          <p:spPr>
            <a:xfrm>
              <a:off x="2419827" y="2267972"/>
              <a:ext cx="200279" cy="199431"/>
            </a:xfrm>
            <a:custGeom>
              <a:avLst/>
              <a:gdLst/>
              <a:ahLst/>
              <a:cxnLst/>
              <a:rect l="l" t="t" r="r" b="b"/>
              <a:pathLst>
                <a:path w="7087" h="7057" extrusionOk="0">
                  <a:moveTo>
                    <a:pt x="3544" y="2344"/>
                  </a:moveTo>
                  <a:cubicBezTo>
                    <a:pt x="4190" y="2344"/>
                    <a:pt x="4716" y="2869"/>
                    <a:pt x="4716" y="3516"/>
                  </a:cubicBezTo>
                  <a:cubicBezTo>
                    <a:pt x="4716" y="4162"/>
                    <a:pt x="4190" y="4687"/>
                    <a:pt x="3544" y="4687"/>
                  </a:cubicBezTo>
                  <a:cubicBezTo>
                    <a:pt x="2898" y="4687"/>
                    <a:pt x="2371" y="4162"/>
                    <a:pt x="2371" y="3516"/>
                  </a:cubicBezTo>
                  <a:cubicBezTo>
                    <a:pt x="2371" y="2869"/>
                    <a:pt x="2898" y="2344"/>
                    <a:pt x="3544" y="2344"/>
                  </a:cubicBezTo>
                  <a:close/>
                  <a:moveTo>
                    <a:pt x="2762" y="1"/>
                  </a:moveTo>
                  <a:cubicBezTo>
                    <a:pt x="2546" y="1"/>
                    <a:pt x="2371" y="176"/>
                    <a:pt x="2371" y="391"/>
                  </a:cubicBezTo>
                  <a:lnTo>
                    <a:pt x="2371" y="1056"/>
                  </a:lnTo>
                  <a:cubicBezTo>
                    <a:pt x="2243" y="1118"/>
                    <a:pt x="2119" y="1190"/>
                    <a:pt x="2001" y="1272"/>
                  </a:cubicBezTo>
                  <a:lnTo>
                    <a:pt x="1424" y="938"/>
                  </a:lnTo>
                  <a:cubicBezTo>
                    <a:pt x="1363" y="904"/>
                    <a:pt x="1295" y="886"/>
                    <a:pt x="1226" y="886"/>
                  </a:cubicBezTo>
                  <a:cubicBezTo>
                    <a:pt x="1193" y="886"/>
                    <a:pt x="1160" y="890"/>
                    <a:pt x="1128" y="899"/>
                  </a:cubicBezTo>
                  <a:cubicBezTo>
                    <a:pt x="1027" y="927"/>
                    <a:pt x="942" y="992"/>
                    <a:pt x="890" y="1081"/>
                  </a:cubicBezTo>
                  <a:lnTo>
                    <a:pt x="108" y="2434"/>
                  </a:lnTo>
                  <a:cubicBezTo>
                    <a:pt x="0" y="2621"/>
                    <a:pt x="65" y="2860"/>
                    <a:pt x="253" y="2968"/>
                  </a:cubicBezTo>
                  <a:lnTo>
                    <a:pt x="820" y="3296"/>
                  </a:lnTo>
                  <a:cubicBezTo>
                    <a:pt x="813" y="3369"/>
                    <a:pt x="810" y="3442"/>
                    <a:pt x="810" y="3516"/>
                  </a:cubicBezTo>
                  <a:cubicBezTo>
                    <a:pt x="810" y="3589"/>
                    <a:pt x="813" y="3663"/>
                    <a:pt x="820" y="3735"/>
                  </a:cubicBezTo>
                  <a:lnTo>
                    <a:pt x="253" y="4063"/>
                  </a:lnTo>
                  <a:cubicBezTo>
                    <a:pt x="65" y="4171"/>
                    <a:pt x="0" y="4410"/>
                    <a:pt x="108" y="4597"/>
                  </a:cubicBezTo>
                  <a:lnTo>
                    <a:pt x="890" y="5950"/>
                  </a:lnTo>
                  <a:cubicBezTo>
                    <a:pt x="963" y="6076"/>
                    <a:pt x="1094" y="6144"/>
                    <a:pt x="1228" y="6144"/>
                  </a:cubicBezTo>
                  <a:cubicBezTo>
                    <a:pt x="1295" y="6144"/>
                    <a:pt x="1362" y="6127"/>
                    <a:pt x="1424" y="6093"/>
                  </a:cubicBezTo>
                  <a:lnTo>
                    <a:pt x="2001" y="5760"/>
                  </a:lnTo>
                  <a:cubicBezTo>
                    <a:pt x="2119" y="5842"/>
                    <a:pt x="2243" y="5913"/>
                    <a:pt x="2371" y="5974"/>
                  </a:cubicBezTo>
                  <a:lnTo>
                    <a:pt x="2371" y="6667"/>
                  </a:lnTo>
                  <a:cubicBezTo>
                    <a:pt x="2371" y="6883"/>
                    <a:pt x="2546" y="7056"/>
                    <a:pt x="2762" y="7056"/>
                  </a:cubicBezTo>
                  <a:lnTo>
                    <a:pt x="4325" y="7056"/>
                  </a:lnTo>
                  <a:cubicBezTo>
                    <a:pt x="4541" y="7056"/>
                    <a:pt x="4716" y="6883"/>
                    <a:pt x="4716" y="6667"/>
                  </a:cubicBezTo>
                  <a:lnTo>
                    <a:pt x="4716" y="5974"/>
                  </a:lnTo>
                  <a:cubicBezTo>
                    <a:pt x="4844" y="5913"/>
                    <a:pt x="4968" y="5842"/>
                    <a:pt x="5086" y="5760"/>
                  </a:cubicBezTo>
                  <a:lnTo>
                    <a:pt x="5664" y="6093"/>
                  </a:lnTo>
                  <a:cubicBezTo>
                    <a:pt x="5725" y="6128"/>
                    <a:pt x="5792" y="6145"/>
                    <a:pt x="5859" y="6145"/>
                  </a:cubicBezTo>
                  <a:cubicBezTo>
                    <a:pt x="5992" y="6145"/>
                    <a:pt x="6124" y="6077"/>
                    <a:pt x="6197" y="5950"/>
                  </a:cubicBezTo>
                  <a:lnTo>
                    <a:pt x="6979" y="4597"/>
                  </a:lnTo>
                  <a:cubicBezTo>
                    <a:pt x="7087" y="4410"/>
                    <a:pt x="7023" y="4171"/>
                    <a:pt x="6836" y="4063"/>
                  </a:cubicBezTo>
                  <a:lnTo>
                    <a:pt x="6267" y="3735"/>
                  </a:lnTo>
                  <a:cubicBezTo>
                    <a:pt x="6275" y="3663"/>
                    <a:pt x="6278" y="3589"/>
                    <a:pt x="6278" y="3516"/>
                  </a:cubicBezTo>
                  <a:cubicBezTo>
                    <a:pt x="6278" y="3442"/>
                    <a:pt x="6275" y="3369"/>
                    <a:pt x="6267" y="3296"/>
                  </a:cubicBezTo>
                  <a:lnTo>
                    <a:pt x="6836" y="2968"/>
                  </a:lnTo>
                  <a:cubicBezTo>
                    <a:pt x="7023" y="2860"/>
                    <a:pt x="7087" y="2622"/>
                    <a:pt x="6979" y="2434"/>
                  </a:cubicBezTo>
                  <a:lnTo>
                    <a:pt x="6197" y="1081"/>
                  </a:lnTo>
                  <a:cubicBezTo>
                    <a:pt x="6124" y="955"/>
                    <a:pt x="5993" y="886"/>
                    <a:pt x="5858" y="886"/>
                  </a:cubicBezTo>
                  <a:cubicBezTo>
                    <a:pt x="5792" y="886"/>
                    <a:pt x="5725" y="903"/>
                    <a:pt x="5664" y="938"/>
                  </a:cubicBezTo>
                  <a:lnTo>
                    <a:pt x="5086" y="1272"/>
                  </a:lnTo>
                  <a:cubicBezTo>
                    <a:pt x="4968" y="1190"/>
                    <a:pt x="4844" y="1118"/>
                    <a:pt x="4716" y="1056"/>
                  </a:cubicBezTo>
                  <a:lnTo>
                    <a:pt x="4716" y="391"/>
                  </a:lnTo>
                  <a:cubicBezTo>
                    <a:pt x="4716" y="176"/>
                    <a:pt x="4541" y="1"/>
                    <a:pt x="43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7BC7989-D592-FF21-4101-A30110463BFF}"/>
              </a:ext>
            </a:extLst>
          </p:cNvPr>
          <p:cNvSpPr txBox="1">
            <a:spLocks/>
          </p:cNvSpPr>
          <p:nvPr/>
        </p:nvSpPr>
        <p:spPr>
          <a:xfrm>
            <a:off x="2987621" y="4831791"/>
            <a:ext cx="3168758" cy="23056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/>
            </a:pPr>
            <a:r>
              <a:rPr lang="it-IT" altLang="en-US" sz="900" dirty="0">
                <a:solidFill>
                  <a:schemeClr val="bg1"/>
                </a:solidFill>
              </a:rPr>
              <a:t>Dept of CSE (AI &amp; ML), SOE-Dayananda Sagar University</a:t>
            </a:r>
            <a:endParaRPr lang="en-US" altLang="en-US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1"/>
          <p:cNvSpPr txBox="1">
            <a:spLocks noGrp="1"/>
          </p:cNvSpPr>
          <p:nvPr>
            <p:ph type="title"/>
          </p:nvPr>
        </p:nvSpPr>
        <p:spPr>
          <a:xfrm>
            <a:off x="720000" y="2531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Model Architecture </a:t>
            </a:r>
            <a:endParaRPr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3B643BD3-68B6-647A-AF52-413F7F4747B3}"/>
              </a:ext>
            </a:extLst>
          </p:cNvPr>
          <p:cNvSpPr txBox="1">
            <a:spLocks/>
          </p:cNvSpPr>
          <p:nvPr/>
        </p:nvSpPr>
        <p:spPr>
          <a:xfrm>
            <a:off x="2987621" y="4831791"/>
            <a:ext cx="3168758" cy="23056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/>
            </a:pPr>
            <a:r>
              <a:rPr lang="it-IT" altLang="en-US" sz="900" dirty="0">
                <a:solidFill>
                  <a:schemeClr val="accent1"/>
                </a:solidFill>
              </a:rPr>
              <a:t>Dept of CSE (AI &amp; ML), SOE-Dayananda Sagar University</a:t>
            </a:r>
            <a:endParaRPr lang="en-US" altLang="en-US" sz="900" dirty="0">
              <a:solidFill>
                <a:schemeClr val="accent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2412FA-020B-47AD-551E-A6B91C3CC2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0577" y="1314043"/>
            <a:ext cx="5762845" cy="27901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4"/>
          <p:cNvSpPr txBox="1">
            <a:spLocks noGrp="1"/>
          </p:cNvSpPr>
          <p:nvPr>
            <p:ph type="title"/>
          </p:nvPr>
        </p:nvSpPr>
        <p:spPr>
          <a:xfrm>
            <a:off x="720000" y="2531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EXPERIMENTATION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C9B655-EB64-7857-7C15-35BF1BFC9CB2}"/>
              </a:ext>
            </a:extLst>
          </p:cNvPr>
          <p:cNvSpPr txBox="1"/>
          <p:nvPr/>
        </p:nvSpPr>
        <p:spPr>
          <a:xfrm>
            <a:off x="627321" y="1256967"/>
            <a:ext cx="7963786" cy="2841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353535"/>
              </a:buClr>
              <a:buSzTx/>
              <a:buFont typeface="Wingdings 3" panose="05040102010807070707" pitchFamily="18" charset="2"/>
              <a:buChar char="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Experimental Design: Describe the methodology and approach used for conducting experiments. This could involve detailing variables, control groups, experimental groups, and any specific procedures or protocols followed.</a:t>
            </a:r>
          </a:p>
          <a:p>
            <a:pPr marL="342900" marR="0" lvl="0" indent="-342900" algn="l" defTabSz="457200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353535"/>
              </a:buClr>
              <a:buSzTx/>
              <a:buFont typeface="Wingdings 3" panose="05040102010807070707" pitchFamily="18" charset="2"/>
              <a:buChar char="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Data Collection Methods: Explain how data was collected during the experiments. This might involve surveys, interviews, observations, or other techniques. Include details about any tools or instruments used for data collection.</a:t>
            </a:r>
          </a:p>
          <a:p>
            <a:pPr marL="342900" marR="0" lvl="0" indent="-342900" algn="l" defTabSz="457200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353535"/>
              </a:buClr>
              <a:buSzTx/>
              <a:buFont typeface="Wingdings 3" panose="05040102010807070707" pitchFamily="18" charset="2"/>
              <a:buChar char="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Etc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1DA527E-8750-4582-AA53-3C0C365EDB97}"/>
              </a:ext>
            </a:extLst>
          </p:cNvPr>
          <p:cNvSpPr txBox="1">
            <a:spLocks/>
          </p:cNvSpPr>
          <p:nvPr/>
        </p:nvSpPr>
        <p:spPr>
          <a:xfrm>
            <a:off x="2987621" y="4831791"/>
            <a:ext cx="3168758" cy="23056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/>
            </a:pPr>
            <a:r>
              <a:rPr lang="it-IT" altLang="en-US" sz="900" dirty="0">
                <a:solidFill>
                  <a:schemeClr val="accent1"/>
                </a:solidFill>
              </a:rPr>
              <a:t>Dept of CSE (AI &amp; ML), SOE-Dayananda Sagar University</a:t>
            </a:r>
            <a:endParaRPr lang="en-US" altLang="en-US" sz="9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0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RESULTS</a:t>
            </a:r>
            <a:endParaRPr lang="en-IN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4656799-79EB-F152-780F-98A859CABF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1619250"/>
            <a:ext cx="64008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6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Snapshots and brief information of the Results achieved through the project </a:t>
            </a:r>
            <a:endParaRPr lang="en-IN" alt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54A5D75-7340-E83F-A578-33CFC76C1C89}"/>
              </a:ext>
            </a:extLst>
          </p:cNvPr>
          <p:cNvSpPr txBox="1">
            <a:spLocks/>
          </p:cNvSpPr>
          <p:nvPr/>
        </p:nvSpPr>
        <p:spPr>
          <a:xfrm>
            <a:off x="2987621" y="4831791"/>
            <a:ext cx="3168758" cy="23056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/>
            </a:pPr>
            <a:r>
              <a:rPr lang="it-IT" altLang="en-US" sz="900" dirty="0">
                <a:solidFill>
                  <a:schemeClr val="accent1"/>
                </a:solidFill>
              </a:rPr>
              <a:t>Dept of CSE (AI &amp; ML), SOE-Dayananda Sagar University</a:t>
            </a:r>
            <a:endParaRPr lang="en-US" altLang="en-US" sz="9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dustrial Preliminary Project by Slidesgo">
  <a:themeElements>
    <a:clrScheme name="Simple Light">
      <a:dk1>
        <a:srgbClr val="202A41"/>
      </a:dk1>
      <a:lt1>
        <a:srgbClr val="FFFFFF"/>
      </a:lt1>
      <a:dk2>
        <a:srgbClr val="516988"/>
      </a:dk2>
      <a:lt2>
        <a:srgbClr val="D3E1F1"/>
      </a:lt2>
      <a:accent1>
        <a:srgbClr val="90ABCE"/>
      </a:accent1>
      <a:accent2>
        <a:srgbClr val="6E86A5"/>
      </a:accent2>
      <a:accent3>
        <a:srgbClr val="F5F4F3"/>
      </a:accent3>
      <a:accent4>
        <a:srgbClr val="FFFFFF"/>
      </a:accent4>
      <a:accent5>
        <a:srgbClr val="FFFFFF"/>
      </a:accent5>
      <a:accent6>
        <a:srgbClr val="FFFFFF"/>
      </a:accent6>
      <a:hlink>
        <a:srgbClr val="202A4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524</Words>
  <Application>Microsoft Office PowerPoint</Application>
  <PresentationFormat>On-screen Show (16:9)</PresentationFormat>
  <Paragraphs>64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Anaheim</vt:lpstr>
      <vt:lpstr>Wingdings</vt:lpstr>
      <vt:lpstr>Wingdings 3</vt:lpstr>
      <vt:lpstr>Calibri</vt:lpstr>
      <vt:lpstr>Poppins</vt:lpstr>
      <vt:lpstr>Arial</vt:lpstr>
      <vt:lpstr>Nunito Light</vt:lpstr>
      <vt:lpstr>Century Gothic</vt:lpstr>
      <vt:lpstr>Industrial Preliminary Project by Slidesgo</vt:lpstr>
      <vt:lpstr>PowerPoint Presentation</vt:lpstr>
      <vt:lpstr>PowerPoint Presentation</vt:lpstr>
      <vt:lpstr>TABLE OF CONTENTS</vt:lpstr>
      <vt:lpstr>INTERNSHIP OVERVIEW</vt:lpstr>
      <vt:lpstr>INTRODUCTION</vt:lpstr>
      <vt:lpstr>PROBLEM DEFINITION </vt:lpstr>
      <vt:lpstr>Model Architecture </vt:lpstr>
      <vt:lpstr>EXPERIMENTATION</vt:lpstr>
      <vt:lpstr>RESULTS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INDUSTRIAL PRELIMINARY PROJECT</dc:title>
  <dc:creator>DSU</dc:creator>
  <cp:lastModifiedBy>Rahul Vijay</cp:lastModifiedBy>
  <cp:revision>7</cp:revision>
  <dcterms:modified xsi:type="dcterms:W3CDTF">2026-04-07T19:55:17Z</dcterms:modified>
</cp:coreProperties>
</file>